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d02381e82de4e6e" /><Relationship Type="http://schemas.openxmlformats.org/officeDocument/2006/relationships/extended-properties" Target="/docProps/app.xml" Id="Rca57e55f58004168" /><Relationship Type="http://schemas.openxmlformats.org/officeDocument/2006/relationships/officeDocument" Target="/ppt/presentation.xml" Id="R22fd2fd54bef4e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30a64c03604799"/>
  </p:sldMasterIdLst>
  <p:notesMasterIdLst>
    <p:notesMasterId xmlns:r="http://schemas.openxmlformats.org/officeDocument/2006/relationships" r:id="R3d418ac030c5416a"/>
  </p:notesMasterIdLst>
  <p:sldIdLst>
    <p:sldId xmlns:r="http://schemas.openxmlformats.org/officeDocument/2006/relationships" id="256" r:id="R7ab8e87accd14dcf"/>
    <p:sldId xmlns:r="http://schemas.openxmlformats.org/officeDocument/2006/relationships" id="257" r:id="Re496fab757f34589"/>
    <p:sldId xmlns:r="http://schemas.openxmlformats.org/officeDocument/2006/relationships" id="258" r:id="Rd4b90aab851f4d5f"/>
    <p:sldId xmlns:r="http://schemas.openxmlformats.org/officeDocument/2006/relationships" id="259" r:id="R055f3fb6d1bf404a"/>
    <p:sldId xmlns:r="http://schemas.openxmlformats.org/officeDocument/2006/relationships" id="260" r:id="R8655385f98244752"/>
    <p:sldId xmlns:r="http://schemas.openxmlformats.org/officeDocument/2006/relationships" id="261" r:id="R464e434dd27f48a2"/>
    <p:sldId xmlns:r="http://schemas.openxmlformats.org/officeDocument/2006/relationships" id="262" r:id="R0eda4ba66c5a4d29"/>
    <p:sldId xmlns:r="http://schemas.openxmlformats.org/officeDocument/2006/relationships" id="263" r:id="R4c9da163cd914d37"/>
    <p:sldId xmlns:r="http://schemas.openxmlformats.org/officeDocument/2006/relationships" id="264" r:id="Rda27aae3e9ec4f5b"/>
    <p:sldId xmlns:r="http://schemas.openxmlformats.org/officeDocument/2006/relationships" id="265" r:id="R37d37d45da764874"/>
    <p:sldId xmlns:r="http://schemas.openxmlformats.org/officeDocument/2006/relationships" id="266" r:id="R0852e7a7ac5344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493170b01c4520" /><Relationship Type="http://schemas.openxmlformats.org/officeDocument/2006/relationships/slideMaster" Target="/ppt/slideMasters/slideMaster1.xml" Id="R5730a64c03604799" /><Relationship Type="http://schemas.openxmlformats.org/officeDocument/2006/relationships/notesMaster" Target="/ppt/notesMasters/notesMaster1.xml" Id="R3d418ac030c5416a" /><Relationship Type="http://schemas.openxmlformats.org/officeDocument/2006/relationships/presProps" Target="/ppt/presProps.xml" Id="R6374c5b1756f4e9b" /><Relationship Type="http://schemas.openxmlformats.org/officeDocument/2006/relationships/tableStyles" Target="/ppt/tableStyles.xml" Id="Rfd9665813efd41f0" /><Relationship Type="http://schemas.openxmlformats.org/officeDocument/2006/relationships/slide" Target="/ppt/slides/slide1.xml" Id="R7ab8e87accd14dcf" /><Relationship Type="http://schemas.openxmlformats.org/officeDocument/2006/relationships/slide" Target="/ppt/slides/slide2.xml" Id="Re496fab757f34589" /><Relationship Type="http://schemas.openxmlformats.org/officeDocument/2006/relationships/slide" Target="/ppt/slides/slide3.xml" Id="Rd4b90aab851f4d5f" /><Relationship Type="http://schemas.openxmlformats.org/officeDocument/2006/relationships/slide" Target="/ppt/slides/slide4.xml" Id="R055f3fb6d1bf404a" /><Relationship Type="http://schemas.openxmlformats.org/officeDocument/2006/relationships/slide" Target="/ppt/slides/slide5.xml" Id="R8655385f98244752" /><Relationship Type="http://schemas.openxmlformats.org/officeDocument/2006/relationships/slide" Target="/ppt/slides/slide6.xml" Id="R464e434dd27f48a2" /><Relationship Type="http://schemas.openxmlformats.org/officeDocument/2006/relationships/slide" Target="/ppt/slides/slide7.xml" Id="R0eda4ba66c5a4d29" /><Relationship Type="http://schemas.openxmlformats.org/officeDocument/2006/relationships/slide" Target="/ppt/slides/slide8.xml" Id="R4c9da163cd914d37" /><Relationship Type="http://schemas.openxmlformats.org/officeDocument/2006/relationships/slide" Target="/ppt/slides/slide9.xml" Id="Rda27aae3e9ec4f5b" /><Relationship Type="http://schemas.openxmlformats.org/officeDocument/2006/relationships/slide" Target="/ppt/slides/slide10.xml" Id="R37d37d45da764874" /><Relationship Type="http://schemas.openxmlformats.org/officeDocument/2006/relationships/slide" Target="/ppt/slides/slide11.xml" Id="R0852e7a7ac5344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6066682a3d646d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02119325454f6e" /><Relationship Type="http://schemas.openxmlformats.org/officeDocument/2006/relationships/notesMaster" Target="/ppt/notesMasters/notesMaster1.xml" Id="R1a7af663f4964c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63a222ac994f3b" /><Relationship Type="http://schemas.openxmlformats.org/officeDocument/2006/relationships/notesMaster" Target="/ppt/notesMasters/notesMaster1.xml" Id="Rb985c6cef36a45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15580c65a34511" /><Relationship Type="http://schemas.openxmlformats.org/officeDocument/2006/relationships/notesMaster" Target="/ppt/notesMasters/notesMaster1.xml" Id="R5fced15611294e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96fb5f15ad4774" /><Relationship Type="http://schemas.openxmlformats.org/officeDocument/2006/relationships/notesMaster" Target="/ppt/notesMasters/notesMaster1.xml" Id="Rded0bb2c46294f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11593695d043d9" /><Relationship Type="http://schemas.openxmlformats.org/officeDocument/2006/relationships/notesMaster" Target="/ppt/notesMasters/notesMaster1.xml" Id="R44383744cb8f49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95c8d182e749b0" /><Relationship Type="http://schemas.openxmlformats.org/officeDocument/2006/relationships/notesMaster" Target="/ppt/notesMasters/notesMaster1.xml" Id="Red662c824a074cb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2ea30d58ae4ae5" /><Relationship Type="http://schemas.openxmlformats.org/officeDocument/2006/relationships/notesMaster" Target="/ppt/notesMasters/notesMaster1.xml" Id="R9c8b4bc3bc6d4c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7c068d1f1f4f8c" /><Relationship Type="http://schemas.openxmlformats.org/officeDocument/2006/relationships/notesMaster" Target="/ppt/notesMasters/notesMaster1.xml" Id="R27df22fddc3543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7876a4eabbe413f" /><Relationship Type="http://schemas.openxmlformats.org/officeDocument/2006/relationships/notesMaster" Target="/ppt/notesMasters/notesMaster1.xml" Id="R0ee4c4c9721647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b074792a3d74453" /><Relationship Type="http://schemas.openxmlformats.org/officeDocument/2006/relationships/notesMaster" Target="/ppt/notesMasters/notesMaster1.xml" Id="Ra7f2e392a8514ae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3d2d24447164f57" /><Relationship Type="http://schemas.openxmlformats.org/officeDocument/2006/relationships/notesMaster" Target="/ppt/notesMasters/notesMaster1.xml" Id="Rf30f64dcb3dc46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C:\Users\DUS\Desktop\project\nettopo-studio\README.md</a:t>
            </a:r>
          </a:p>
          <a:p xmlns:a="http://schemas.openxmlformats.org/drawingml/2006/main">
            <a:r>
              <a:t>- C:\Users\DUS\Desktop\project\nettopo-studio\package.json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C:\Users\DUS\Desktop\project\nettopo-studio\app\page.tsx</a:t>
            </a:r>
          </a:p>
          <a:p xmlns:a="http://schemas.openxmlformats.org/drawingml/2006/main">
            <a:r>
              <a:t>- C:\Users\DUS\Desktop\project\nettopo-studio\app\lib\topology-store.ts</a:t>
            </a:r>
          </a:p>
          <a:p xmlns:a="http://schemas.openxmlformats.org/drawingml/2006/main">
            <a:r>
              <a:t>- C:\Users\DUS\Desktop\project\nettopo-studio\app\api\topology\route.ts</a:t>
            </a:r>
          </a:p>
          <a:p xmlns:a="http://schemas.openxmlformats.org/drawingml/2006/main">
            <a:r>
              <a:t>- C:\Users\DUS\Desktop\project\nettopo-studio\db\topology-postgres.ts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C:\Users\DUS\Desktop\project\nettopo-studio\app\page.tsx</a:t>
            </a:r>
          </a:p>
          <a:p xmlns:a="http://schemas.openxmlformats.org/drawingml/2006/main">
            <a:r>
              <a:t>- C:\Users\DUS\Desktop\project\nettopo-studio\app\lib\topology-store.ts</a:t>
            </a:r>
          </a:p>
          <a:p xmlns:a="http://schemas.openxmlformats.org/drawingml/2006/main">
            <a:r>
              <a:t>- C:\Users\DUS\Desktop\project\nettopo-studio\app\lib\topology-transfer.ts</a:t>
            </a:r>
          </a:p>
          <a:p xmlns:a="http://schemas.openxmlformats.org/drawingml/2006/main">
            <a:r>
              <a:t>- C:\Users\DUS\Desktop\project\nettopo-studio\db\topology-postgres.ts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C:\Users\DUS\Desktop\project\nettopo-studio\app\lib\topology-types.ts</a:t>
            </a:r>
          </a:p>
          <a:p xmlns:a="http://schemas.openxmlformats.org/drawingml/2006/main">
            <a:r>
              <a:t>- C:\Users\DUS\Desktop\project\nettopo-studio\db\schema.ts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C:\Users\DUS\Desktop\project\nettopo-studio\app\page.tsx</a:t>
            </a:r>
          </a:p>
          <a:p xmlns:a="http://schemas.openxmlformats.org/drawingml/2006/main">
            <a:r>
              <a:t>- C:\Users\DUS\Desktop\project\nettopo-studio\app\lib\topology-layout.ts</a:t>
            </a:r>
          </a:p>
          <a:p xmlns:a="http://schemas.openxmlformats.org/drawingml/2006/main">
            <a:r>
              <a:t>- C:\Users\DUS\Desktop\project\nettopo-studio\docs\dev開發紀錄\2026-07-27-topology-ui.md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C:\Users\DUS\Desktop\project\nettopo-studio\app\lib\topology-db.ts</a:t>
            </a:r>
          </a:p>
          <a:p xmlns:a="http://schemas.openxmlformats.org/drawingml/2006/main">
            <a:r>
              <a:t>- C:\Users\DUS\Desktop\project\nettopo-studio\app\lib\topology-store.ts</a:t>
            </a:r>
          </a:p>
          <a:p xmlns:a="http://schemas.openxmlformats.org/drawingml/2006/main">
            <a:r>
              <a:t>- C:\Users\DUS\Desktop\project\nettopo-studio\app\api\topology\route.ts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C:\Users\DUS\Desktop\project\nettopo-studio\app\api\topology\route.ts</a:t>
            </a:r>
          </a:p>
          <a:p xmlns:a="http://schemas.openxmlformats.org/drawingml/2006/main">
            <a:r>
              <a:t>- C:\Users\DUS\Desktop\project\nettopo-studio\app\api\session\route.ts</a:t>
            </a:r>
          </a:p>
          <a:p xmlns:a="http://schemas.openxmlformats.org/drawingml/2006/main">
            <a:r>
              <a:t>- C:\Users\DUS\Desktop\project\nettopo-studio\db\topology-postgres.ts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C:\Users\DUS\Desktop\project\nettopo-studio\db\schema.ts</a:t>
            </a:r>
          </a:p>
          <a:p xmlns:a="http://schemas.openxmlformats.org/drawingml/2006/main">
            <a:r>
              <a:t>- C:\Users\DUS\Desktop\project\nettopo-studio\db\migrations\0001_formal_topology_schema.sql</a:t>
            </a:r>
          </a:p>
          <a:p xmlns:a="http://schemas.openxmlformats.org/drawingml/2006/main">
            <a:r>
              <a:t>- C:\Users\DUS\Desktop\project\nettopo-studio\docs\dev開發紀錄\2026-08-02-postgresql-schema.md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C:\Users\DUS\Desktop\project\nettopo-studio\app\lib\topology-transfer.ts</a:t>
            </a:r>
          </a:p>
          <a:p xmlns:a="http://schemas.openxmlformats.org/drawingml/2006/main">
            <a:r>
              <a:t>- C:\Users\DUS\Desktop\project\nettopo-studio\tests\topology-transfer.test.mjs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C:\Users\DUS\Desktop\project\nettopo-studio\docs\dev開發紀錄\2026-07-28-multi-topology-storage.md</a:t>
            </a:r>
          </a:p>
          <a:p xmlns:a="http://schemas.openxmlformats.org/drawingml/2006/main">
            <a:r>
              <a:t>- C:\Users\DUS\Desktop\project\nettopo-studio\docs\dev開發紀錄\2026-08-02-postgresql-schema.md</a:t>
            </a:r>
          </a:p>
          <a:p xmlns:a="http://schemas.openxmlformats.org/drawingml/2006/main">
            <a:r>
              <a:t>- C:\Users\DUS\Desktop\project\nettopo-studio\tests\topology-layout.test.mjs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C:\Users\DUS\Desktop\project\nettopo-studio\app\lib\topology-types.ts</a:t>
            </a:r>
          </a:p>
          <a:p xmlns:a="http://schemas.openxmlformats.org/drawingml/2006/main">
            <a:r>
              <a:t>- C:\Users\DUS\Desktop\project\nettopo-studio\app\lib\topology-store.ts</a:t>
            </a:r>
          </a:p>
          <a:p xmlns:a="http://schemas.openxmlformats.org/drawingml/2006/main">
            <a:r>
              <a:t>- C:\Users\DUS\Desktop\project\nettopo-studio\db\schema.ts</a:t>
            </a:r>
          </a:p>
          <a:p xmlns:a="http://schemas.openxmlformats.org/drawingml/2006/main">
            <a:r>
              <a:t>- C:\Users\DUS\Desktop\project\nettopo-studio\docs\dev開發紀錄\2026-08-02-postgresql-schema.md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80a5239e84d7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3e0441589e48b5" /><Relationship Type="http://schemas.openxmlformats.org/officeDocument/2006/relationships/slideLayout" Target="/ppt/slideLayouts/slideLayout1.xml" Id="Rd64aaba29da34a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4aaba29da34a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fa776b210b454a" /><Relationship Type="http://schemas.openxmlformats.org/officeDocument/2006/relationships/notesSlide" Target="/ppt/notesSlides/notesSlide1.xml" Id="Rd92faab9abbb4a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c4536a67e44643" /><Relationship Type="http://schemas.openxmlformats.org/officeDocument/2006/relationships/notesSlide" Target="/ppt/notesSlides/notesSlide2.xml" Id="R4f6743c2c9cf4e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c5c0d6110849ca" /><Relationship Type="http://schemas.openxmlformats.org/officeDocument/2006/relationships/notesSlide" Target="/ppt/notesSlides/notesSlide3.xml" Id="R0d85ad91038140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780949872942af" /><Relationship Type="http://schemas.openxmlformats.org/officeDocument/2006/relationships/notesSlide" Target="/ppt/notesSlides/notesSlide4.xml" Id="Ree0e1af5891742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ed964394e4b13" /><Relationship Type="http://schemas.openxmlformats.org/officeDocument/2006/relationships/notesSlide" Target="/ppt/notesSlides/notesSlide5.xml" Id="R1ddccf10016b4d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e0be9dadd1429e" /><Relationship Type="http://schemas.openxmlformats.org/officeDocument/2006/relationships/notesSlide" Target="/ppt/notesSlides/notesSlide6.xml" Id="R8864f45153b34a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1f626f010467b" /><Relationship Type="http://schemas.openxmlformats.org/officeDocument/2006/relationships/notesSlide" Target="/ppt/notesSlides/notesSlide7.xml" Id="Rdf0685fdefb840e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ff7fc48794f06" /><Relationship Type="http://schemas.openxmlformats.org/officeDocument/2006/relationships/notesSlide" Target="/ppt/notesSlides/notesSlide8.xml" Id="R6409ac25ff794aa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5a3d43ad04dd5" /><Relationship Type="http://schemas.openxmlformats.org/officeDocument/2006/relationships/notesSlide" Target="/ppt/notesSlides/notesSlide9.xml" Id="R2fbaee6c31694ae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d85cf8baf401f" /><Relationship Type="http://schemas.openxmlformats.org/officeDocument/2006/relationships/notesSlide" Target="/ppt/notesSlides/notesSlide10.xml" Id="R5b10a7df241d45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54ea4bed294127" /><Relationship Type="http://schemas.openxmlformats.org/officeDocument/2006/relationships/notesSlide" Target="/ppt/notesSlides/notesSlide11.xml" Id="R5e0543fc0b2b49c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rchitecture-cover-eyebrow">
            <a:extLst xmlns:a="http://schemas.openxmlformats.org/drawingml/2006/main">
              <a:ext uri="{FF2B5EF4-FFF2-40B4-BE49-F238E27FC236}">
                <a16:creationId xmlns:a16="http://schemas.microsoft.com/office/drawing/2014/main" id="{CDD7C9F6-6C8D-4A82-8DD3-1781778E7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SYSTEM VIEW</a:t>
            </a:r>
          </a:p>
        </p:txBody>
      </p:sp>
      <p:sp>
        <p:nvSpPr>
          <p:cNvPr id="2" name="architecture-cover-meta">
            <a:extLst xmlns:a="http://schemas.openxmlformats.org/drawingml/2006/main">
              <a:ext uri="{FF2B5EF4-FFF2-40B4-BE49-F238E27FC236}">
                <a16:creationId xmlns:a16="http://schemas.microsoft.com/office/drawing/2014/main" id="{3913A81C-CE7E-4CAB-B073-FE46997D0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10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NETTOPO STUDIO · ARCHITECTURE ABSTRACT</a:t>
            </a:r>
          </a:p>
        </p:txBody>
      </p:sp>
      <p:sp>
        <p:nvSpPr>
          <p:cNvPr id="3" name="architecture-cover-rule">
            <a:extLst xmlns:a="http://schemas.openxmlformats.org/drawingml/2006/main">
              <a:ext uri="{FF2B5EF4-FFF2-40B4-BE49-F238E27FC236}">
                <a16:creationId xmlns:a16="http://schemas.microsoft.com/office/drawing/2014/main" id="{CF3105C0-DC5A-4383-A082-0F8EDECF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812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architecture-cover-title">
            <a:extLst xmlns:a="http://schemas.openxmlformats.org/drawingml/2006/main">
              <a:ext uri="{FF2B5EF4-FFF2-40B4-BE49-F238E27FC236}">
                <a16:creationId xmlns:a16="http://schemas.microsoft.com/office/drawing/2014/main" id="{B3E1FE6D-136C-418B-932E-C5C5C796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19375"/>
            <a:ext cx="10096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NetTopo Studio</a:t>
            </a:r>
          </a:p>
          <a:p xmlns:a="http://schemas.openxmlformats.org/drawingml/2006/main">
            <a:pPr algn="l">
              <a:defRPr sz="5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8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專案架構 Abstract</a:t>
            </a:r>
          </a:p>
        </p:txBody>
      </p:sp>
      <p:sp>
        <p:nvSpPr>
          <p:cNvPr id="5" name="architecture-cover-subtitle">
            <a:extLst xmlns:a="http://schemas.openxmlformats.org/drawingml/2006/main">
              <a:ext uri="{FF2B5EF4-FFF2-40B4-BE49-F238E27FC236}">
                <a16:creationId xmlns:a16="http://schemas.microsoft.com/office/drawing/2014/main" id="{CA1F5053-B7E4-4F01-BCB8-043F0A68E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838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瀏覽器拓樸編輯器、可抽換儲存層、Next.js API 與 PostgreSQL 正規化資料模型。</a:t>
            </a:r>
          </a:p>
        </p:txBody>
      </p:sp>
    </p:spTree>
    <p:extLst>
      <p:ext uri="{BB962C8B-B14F-4D97-AF65-F5344CB8AC3E}">
        <p14:creationId xmlns:p14="http://schemas.microsoft.com/office/powerpoint/2010/main" val="7194843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2">
            <a:extLst xmlns:a="http://schemas.openxmlformats.org/drawingml/2006/main">
              <a:ext uri="{FF2B5EF4-FFF2-40B4-BE49-F238E27FC236}">
                <a16:creationId xmlns:a16="http://schemas.microsoft.com/office/drawing/2014/main" id="{6D64D2E4-EC77-4C1E-82DB-CB7E892CE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架構核心：同一個 Project 穿過兩條儲存路徑</a:t>
            </a:r>
          </a:p>
        </p:txBody>
      </p:sp>
      <p:sp>
        <p:nvSpPr>
          <p:cNvPr id="2" name="title-accent-2">
            <a:extLst xmlns:a="http://schemas.openxmlformats.org/drawingml/2006/main">
              <a:ext uri="{FF2B5EF4-FFF2-40B4-BE49-F238E27FC236}">
                <a16:creationId xmlns:a16="http://schemas.microsoft.com/office/drawing/2014/main" id="{012F4129-85E0-488A-B72F-7E8A50B8F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2">
            <a:extLst xmlns:a="http://schemas.openxmlformats.org/drawingml/2006/main">
              <a:ext uri="{FF2B5EF4-FFF2-40B4-BE49-F238E27FC236}">
                <a16:creationId xmlns:a16="http://schemas.microsoft.com/office/drawing/2014/main" id="{9FA10C4A-4E45-4180-9E48-1DD393E8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ARCHITECTURE ABSTRACT</a:t>
            </a:r>
          </a:p>
        </p:txBody>
      </p:sp>
      <p:sp>
        <p:nvSpPr>
          <p:cNvPr id="4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0F8F553B-7980-4332-912D-A685A374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5" name="arch-arrow-2-0">
            <a:extLst xmlns:a="http://schemas.openxmlformats.org/drawingml/2006/main">
              <a:ext uri="{FF2B5EF4-FFF2-40B4-BE49-F238E27FC236}">
                <a16:creationId xmlns:a16="http://schemas.microsoft.com/office/drawing/2014/main" id="{1909E678-E290-45DC-9030-1C39D1A5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428625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rch-arrow-2-1">
            <a:extLst xmlns:a="http://schemas.openxmlformats.org/drawingml/2006/main">
              <a:ext uri="{FF2B5EF4-FFF2-40B4-BE49-F238E27FC236}">
                <a16:creationId xmlns:a16="http://schemas.microsoft.com/office/drawing/2014/main" id="{DAEB4604-DED8-4315-9FFA-78AC6DCE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52750"/>
            <a:ext cx="428625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rch-arrow-2-2">
            <a:extLst xmlns:a="http://schemas.openxmlformats.org/drawingml/2006/main">
              <a:ext uri="{FF2B5EF4-FFF2-40B4-BE49-F238E27FC236}">
                <a16:creationId xmlns:a16="http://schemas.microsoft.com/office/drawing/2014/main" id="{9813530E-E49E-4C66-9FAC-12EE3854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38375"/>
            <a:ext cx="428625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rch-arrow-2-3">
            <a:extLst xmlns:a="http://schemas.openxmlformats.org/drawingml/2006/main">
              <a:ext uri="{FF2B5EF4-FFF2-40B4-BE49-F238E27FC236}">
                <a16:creationId xmlns:a16="http://schemas.microsoft.com/office/drawing/2014/main" id="{7AE40EEC-258E-4630-8403-90FDD2F1F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048125"/>
            <a:ext cx="428625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rch-arrow-2-4">
            <a:extLst xmlns:a="http://schemas.openxmlformats.org/drawingml/2006/main">
              <a:ext uri="{FF2B5EF4-FFF2-40B4-BE49-F238E27FC236}">
                <a16:creationId xmlns:a16="http://schemas.microsoft.com/office/drawing/2014/main" id="{031FACDE-3E20-460C-835C-54EB25F86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48125"/>
            <a:ext cx="428625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rch-box-2-0">
            <a:extLst xmlns:a="http://schemas.openxmlformats.org/drawingml/2006/main">
              <a:ext uri="{FF2B5EF4-FFF2-40B4-BE49-F238E27FC236}">
                <a16:creationId xmlns:a16="http://schemas.microsoft.com/office/drawing/2014/main" id="{C6252DFA-2D4B-44D5-AADE-C03163A0F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428875"/>
            <a:ext cx="1905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arch-box-title-2-0">
            <a:extLst xmlns:a="http://schemas.openxmlformats.org/drawingml/2006/main">
              <a:ext uri="{FF2B5EF4-FFF2-40B4-BE49-F238E27FC236}">
                <a16:creationId xmlns:a16="http://schemas.microsoft.com/office/drawing/2014/main" id="{9A9BCB0D-06B3-443B-B471-8FCB24F6B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00325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Browser UI</a:t>
            </a:r>
          </a:p>
        </p:txBody>
      </p:sp>
      <p:sp>
        <p:nvSpPr>
          <p:cNvPr id="12" name="arch-box-body-2-0">
            <a:extLst xmlns:a="http://schemas.openxmlformats.org/drawingml/2006/main">
              <a:ext uri="{FF2B5EF4-FFF2-40B4-BE49-F238E27FC236}">
                <a16:creationId xmlns:a16="http://schemas.microsoft.com/office/drawing/2014/main" id="{17AC6855-C15E-4292-9B45-9471D934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09562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React · React Flow</a:t>
            </a:r>
          </a:p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Resizable Panels</a:t>
            </a:r>
          </a:p>
        </p:txBody>
      </p:sp>
      <p:sp>
        <p:nvSpPr>
          <p:cNvPr id="13" name="arch-box-2-1">
            <a:extLst xmlns:a="http://schemas.openxmlformats.org/drawingml/2006/main">
              <a:ext uri="{FF2B5EF4-FFF2-40B4-BE49-F238E27FC236}">
                <a16:creationId xmlns:a16="http://schemas.microsoft.com/office/drawing/2014/main" id="{52EF945D-F411-4D9E-A20C-D6969921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28875"/>
            <a:ext cx="1857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arch-box-title-2-1">
            <a:extLst xmlns:a="http://schemas.openxmlformats.org/drawingml/2006/main">
              <a:ext uri="{FF2B5EF4-FFF2-40B4-BE49-F238E27FC236}">
                <a16:creationId xmlns:a16="http://schemas.microsoft.com/office/drawing/2014/main" id="{EC4E678B-E68F-4EDD-AD95-BA44A0D6A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2600325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Zustand</a:t>
            </a:r>
          </a:p>
        </p:txBody>
      </p:sp>
      <p:sp>
        <p:nvSpPr>
          <p:cNvPr id="15" name="arch-box-body-2-1">
            <a:extLst xmlns:a="http://schemas.openxmlformats.org/drawingml/2006/main">
              <a:ext uri="{FF2B5EF4-FFF2-40B4-BE49-F238E27FC236}">
                <a16:creationId xmlns:a16="http://schemas.microsoft.com/office/drawing/2014/main" id="{75D1EC5F-0F86-4BF4-8ED5-E1CF8E85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095625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目前 Project</a:t>
            </a:r>
          </a:p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選取與儲存狀態</a:t>
            </a:r>
          </a:p>
        </p:txBody>
      </p:sp>
      <p:sp>
        <p:nvSpPr>
          <p:cNvPr id="16" name="arch-box-2-2">
            <a:extLst xmlns:a="http://schemas.openxmlformats.org/drawingml/2006/main">
              <a:ext uri="{FF2B5EF4-FFF2-40B4-BE49-F238E27FC236}">
                <a16:creationId xmlns:a16="http://schemas.microsoft.com/office/drawing/2014/main" id="{8D3936AE-AD58-480C-8C8A-99DFD4D9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428875"/>
            <a:ext cx="190500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arch-box-title-2-2">
            <a:extLst xmlns:a="http://schemas.openxmlformats.org/drawingml/2006/main">
              <a:ext uri="{FF2B5EF4-FFF2-40B4-BE49-F238E27FC236}">
                <a16:creationId xmlns:a16="http://schemas.microsoft.com/office/drawing/2014/main" id="{0F1B31C6-E685-4331-AA4E-7B737AAE8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600325"/>
            <a:ext cx="1600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Storage Port</a:t>
            </a:r>
          </a:p>
        </p:txBody>
      </p:sp>
      <p:sp>
        <p:nvSpPr>
          <p:cNvPr id="18" name="arch-box-body-2-2">
            <a:extLst xmlns:a="http://schemas.openxmlformats.org/drawingml/2006/main">
              <a:ext uri="{FF2B5EF4-FFF2-40B4-BE49-F238E27FC236}">
                <a16:creationId xmlns:a16="http://schemas.microsoft.com/office/drawing/2014/main" id="{AB440931-209F-4017-B426-E4BA15F92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95625"/>
            <a:ext cx="1638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同一組 CRUD</a:t>
            </a:r>
          </a:p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依環境切換</a:t>
            </a:r>
          </a:p>
        </p:txBody>
      </p:sp>
      <p:sp>
        <p:nvSpPr>
          <p:cNvPr id="19" name="arch-box-2-3">
            <a:extLst xmlns:a="http://schemas.openxmlformats.org/drawingml/2006/main">
              <a:ext uri="{FF2B5EF4-FFF2-40B4-BE49-F238E27FC236}">
                <a16:creationId xmlns:a16="http://schemas.microsoft.com/office/drawing/2014/main" id="{62116971-790D-41C6-89F5-847D61811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524000"/>
            <a:ext cx="1857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arch-box-title-2-3">
            <a:extLst xmlns:a="http://schemas.openxmlformats.org/drawingml/2006/main">
              <a:ext uri="{FF2B5EF4-FFF2-40B4-BE49-F238E27FC236}">
                <a16:creationId xmlns:a16="http://schemas.microsoft.com/office/drawing/2014/main" id="{98D9D4DF-011B-463C-A24E-D8DB6B465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95450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IndexedDB</a:t>
            </a:r>
          </a:p>
        </p:txBody>
      </p:sp>
      <p:sp>
        <p:nvSpPr>
          <p:cNvPr id="21" name="arch-box-body-2-3">
            <a:extLst xmlns:a="http://schemas.openxmlformats.org/drawingml/2006/main">
              <a:ext uri="{FF2B5EF4-FFF2-40B4-BE49-F238E27FC236}">
                <a16:creationId xmlns:a16="http://schemas.microsoft.com/office/drawing/2014/main" id="{7A4AF1CB-7E6E-41A1-A614-E9933FF5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90750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Dexie</a:t>
            </a:r>
          </a:p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單機、本地優先</a:t>
            </a:r>
          </a:p>
        </p:txBody>
      </p:sp>
      <p:sp>
        <p:nvSpPr>
          <p:cNvPr id="22" name="arch-box-2-4">
            <a:extLst xmlns:a="http://schemas.openxmlformats.org/drawingml/2006/main">
              <a:ext uri="{FF2B5EF4-FFF2-40B4-BE49-F238E27FC236}">
                <a16:creationId xmlns:a16="http://schemas.microsoft.com/office/drawing/2014/main" id="{D6C66997-EBDC-479A-B93A-1C4CB8DC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1857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3" name="arch-box-title-2-4">
            <a:extLst xmlns:a="http://schemas.openxmlformats.org/drawingml/2006/main">
              <a:ext uri="{FF2B5EF4-FFF2-40B4-BE49-F238E27FC236}">
                <a16:creationId xmlns:a16="http://schemas.microsoft.com/office/drawing/2014/main" id="{5B86F79F-D246-4DAA-9E63-172ED3D35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505200"/>
            <a:ext cx="15525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8846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/api/topology</a:t>
            </a:r>
          </a:p>
        </p:txBody>
      </p:sp>
      <p:sp>
        <p:nvSpPr>
          <p:cNvPr id="24" name="arch-box-body-2-4">
            <a:extLst xmlns:a="http://schemas.openxmlformats.org/drawingml/2006/main">
              <a:ext uri="{FF2B5EF4-FFF2-40B4-BE49-F238E27FC236}">
                <a16:creationId xmlns:a16="http://schemas.microsoft.com/office/drawing/2014/main" id="{932989F5-07ED-4F34-A0BB-F0A8842B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00500"/>
            <a:ext cx="15906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Next.js route</a:t>
            </a:r>
          </a:p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權限與動作驗證</a:t>
            </a:r>
          </a:p>
        </p:txBody>
      </p:sp>
      <p:sp>
        <p:nvSpPr>
          <p:cNvPr id="25" name="arch-box-2-5">
            <a:extLst xmlns:a="http://schemas.openxmlformats.org/drawingml/2006/main">
              <a:ext uri="{FF2B5EF4-FFF2-40B4-BE49-F238E27FC236}">
                <a16:creationId xmlns:a16="http://schemas.microsoft.com/office/drawing/2014/main" id="{B05FBEBC-8C62-484F-B9B0-5DE2FD23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3333750"/>
            <a:ext cx="1619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arch-box-title-2-5">
            <a:extLst xmlns:a="http://schemas.openxmlformats.org/drawingml/2006/main">
              <a:ext uri="{FF2B5EF4-FFF2-40B4-BE49-F238E27FC236}">
                <a16:creationId xmlns:a16="http://schemas.microsoft.com/office/drawing/2014/main" id="{7FC4261B-36D6-410C-A327-99695EA0B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6525" y="3505200"/>
            <a:ext cx="1314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1243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PostgreSQL</a:t>
            </a:r>
          </a:p>
        </p:txBody>
      </p:sp>
      <p:sp>
        <p:nvSpPr>
          <p:cNvPr id="27" name="arch-box-body-2-5">
            <a:extLst xmlns:a="http://schemas.openxmlformats.org/drawingml/2006/main">
              <a:ext uri="{FF2B5EF4-FFF2-40B4-BE49-F238E27FC236}">
                <a16:creationId xmlns:a16="http://schemas.microsoft.com/office/drawing/2014/main" id="{3AAAD99A-ABB8-4631-84A8-AC77D476A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4000500"/>
            <a:ext cx="1352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JSONB 主檔</a:t>
            </a:r>
          </a:p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正規化表</a:t>
            </a:r>
          </a:p>
        </p:txBody>
      </p:sp>
      <p:sp>
        <p:nvSpPr>
          <p:cNvPr id="28" name="arch-side-2">
            <a:extLst xmlns:a="http://schemas.openxmlformats.org/drawingml/2006/main">
              <a:ext uri="{FF2B5EF4-FFF2-40B4-BE49-F238E27FC236}">
                <a16:creationId xmlns:a16="http://schemas.microsoft.com/office/drawing/2014/main" id="{45A53C99-08AC-4D3D-9778-E8CA07D7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095875"/>
            <a:ext cx="647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JSON／CSV 匯入 → Zod 驗證 → ImportPlan</a:t>
            </a:r>
          </a:p>
          <a:p xmlns:a="http://schemas.openxmlformats.org/drawingml/2006/main">
            <a:pPr algn="ctr">
              <a:defRPr sz="16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ELK／三層式／Spine-Leaf → 節點與正交連線</a:t>
            </a:r>
          </a:p>
        </p:txBody>
      </p:sp>
    </p:spTree>
    <p:extLst>
      <p:ext uri="{BB962C8B-B14F-4D97-AF65-F5344CB8AC3E}">
        <p14:creationId xmlns:p14="http://schemas.microsoft.com/office/powerpoint/2010/main" val="17810506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-3">
            <a:extLst xmlns:a="http://schemas.openxmlformats.org/drawingml/2006/main">
              <a:ext uri="{FF2B5EF4-FFF2-40B4-BE49-F238E27FC236}">
                <a16:creationId xmlns:a16="http://schemas.microsoft.com/office/drawing/2014/main" id="{CB5B2D2D-7493-433E-B215-3F24071E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職責分層：畫面、服務、資料各自解決不同問題</a:t>
            </a:r>
          </a:p>
        </p:txBody>
      </p:sp>
      <p:sp>
        <p:nvSpPr>
          <p:cNvPr id="2" name="title-accent-3">
            <a:extLst xmlns:a="http://schemas.openxmlformats.org/drawingml/2006/main">
              <a:ext uri="{FF2B5EF4-FFF2-40B4-BE49-F238E27FC236}">
                <a16:creationId xmlns:a16="http://schemas.microsoft.com/office/drawing/2014/main" id="{A9DDB71E-59FA-489B-949A-3E2CA741D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3">
            <a:extLst xmlns:a="http://schemas.openxmlformats.org/drawingml/2006/main">
              <a:ext uri="{FF2B5EF4-FFF2-40B4-BE49-F238E27FC236}">
                <a16:creationId xmlns:a16="http://schemas.microsoft.com/office/drawing/2014/main" id="{A6F5AC7F-C52E-4EDF-AF5B-C274418A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ARCHITECTURE ABSTRACT</a:t>
            </a:r>
          </a:p>
        </p:txBody>
      </p:sp>
      <p:sp>
        <p:nvSpPr>
          <p:cNvPr id="4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69CF588E-FF78-4EF6-B737-F1AA8ACF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5" name="three-col-index-3-0">
            <a:extLst xmlns:a="http://schemas.openxmlformats.org/drawingml/2006/main">
              <a:ext uri="{FF2B5EF4-FFF2-40B4-BE49-F238E27FC236}">
                <a16:creationId xmlns:a16="http://schemas.microsoft.com/office/drawing/2014/main" id="{7406DA42-D41A-4E2D-9DBD-29543BAA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4787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6" name="three-col-title-3-0">
            <a:extLst xmlns:a="http://schemas.openxmlformats.org/drawingml/2006/main">
              <a:ext uri="{FF2B5EF4-FFF2-40B4-BE49-F238E27FC236}">
                <a16:creationId xmlns:a16="http://schemas.microsoft.com/office/drawing/2014/main" id="{0BEC0B9C-96D2-4531-8FFC-B8C0234C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14625"/>
            <a:ext cx="328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Presentation</a:t>
            </a:r>
          </a:p>
        </p:txBody>
      </p:sp>
      <p:sp>
        <p:nvSpPr>
          <p:cNvPr id="7" name="three-col-body-3-0">
            <a:extLst xmlns:a="http://schemas.openxmlformats.org/drawingml/2006/main">
              <a:ext uri="{FF2B5EF4-FFF2-40B4-BE49-F238E27FC236}">
                <a16:creationId xmlns:a16="http://schemas.microsoft.com/office/drawing/2014/main" id="{CD2E932B-BCA5-4625-8AFA-40E9689EE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71875"/>
            <a:ext cx="32861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app/page.tsx</a:t>
            </a:r>
          </a:p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React UI、React Flow、Panel、Inspector、匯入匯出與登入閘門。</a:t>
            </a:r>
          </a:p>
        </p:txBody>
      </p:sp>
      <p:sp>
        <p:nvSpPr>
          <p:cNvPr id="8" name="three-col-v-3-1">
            <a:extLst xmlns:a="http://schemas.openxmlformats.org/drawingml/2006/main">
              <a:ext uri="{FF2B5EF4-FFF2-40B4-BE49-F238E27FC236}">
                <a16:creationId xmlns:a16="http://schemas.microsoft.com/office/drawing/2014/main" id="{D69C43A1-B507-49AF-BCA2-3B2069E6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076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hree-col-index-3-1">
            <a:extLst xmlns:a="http://schemas.openxmlformats.org/drawingml/2006/main">
              <a:ext uri="{FF2B5EF4-FFF2-40B4-BE49-F238E27FC236}">
                <a16:creationId xmlns:a16="http://schemas.microsoft.com/office/drawing/2014/main" id="{31388D20-D335-42F4-AC42-C03CEE50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04787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0" name="three-col-title-3-1">
            <a:extLst xmlns:a="http://schemas.openxmlformats.org/drawingml/2006/main">
              <a:ext uri="{FF2B5EF4-FFF2-40B4-BE49-F238E27FC236}">
                <a16:creationId xmlns:a16="http://schemas.microsoft.com/office/drawing/2014/main" id="{44C1BE2E-FB73-4A3E-8B3F-B5D3462B9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714625"/>
            <a:ext cx="328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Application</a:t>
            </a:r>
          </a:p>
        </p:txBody>
      </p:sp>
      <p:sp>
        <p:nvSpPr>
          <p:cNvPr id="11" name="three-col-body-3-1">
            <a:extLst xmlns:a="http://schemas.openxmlformats.org/drawingml/2006/main">
              <a:ext uri="{FF2B5EF4-FFF2-40B4-BE49-F238E27FC236}">
                <a16:creationId xmlns:a16="http://schemas.microsoft.com/office/drawing/2014/main" id="{30D92453-09F3-4800-9998-358E442F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571875"/>
            <a:ext cx="32861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Zustand store、layout、transfer、API routes；協調狀態、驗證與使用者動作。</a:t>
            </a:r>
          </a:p>
        </p:txBody>
      </p:sp>
      <p:sp>
        <p:nvSpPr>
          <p:cNvPr id="12" name="three-col-v-3-2">
            <a:extLst xmlns:a="http://schemas.openxmlformats.org/drawingml/2006/main">
              <a:ext uri="{FF2B5EF4-FFF2-40B4-BE49-F238E27FC236}">
                <a16:creationId xmlns:a16="http://schemas.microsoft.com/office/drawing/2014/main" id="{667229C8-7A6A-4286-AB43-1766E447E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7645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hree-col-index-3-2">
            <a:extLst xmlns:a="http://schemas.openxmlformats.org/drawingml/2006/main">
              <a:ext uri="{FF2B5EF4-FFF2-40B4-BE49-F238E27FC236}">
                <a16:creationId xmlns:a16="http://schemas.microsoft.com/office/drawing/2014/main" id="{4AB7AF9C-281A-4FA3-8BDA-465D0486C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047875"/>
            <a:ext cx="685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4" name="three-col-title-3-2">
            <a:extLst xmlns:a="http://schemas.openxmlformats.org/drawingml/2006/main">
              <a:ext uri="{FF2B5EF4-FFF2-40B4-BE49-F238E27FC236}">
                <a16:creationId xmlns:a16="http://schemas.microsoft.com/office/drawing/2014/main" id="{9737C593-C54C-4B8E-BF86-DC248DFA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14625"/>
            <a:ext cx="32861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Persistence</a:t>
            </a:r>
          </a:p>
        </p:txBody>
      </p:sp>
      <p:sp>
        <p:nvSpPr>
          <p:cNvPr id="15" name="three-col-body-3-2">
            <a:extLst xmlns:a="http://schemas.openxmlformats.org/drawingml/2006/main">
              <a:ext uri="{FF2B5EF4-FFF2-40B4-BE49-F238E27FC236}">
                <a16:creationId xmlns:a16="http://schemas.microsoft.com/office/drawing/2014/main" id="{0735EDFF-88F4-4A52-88C6-FC7EB1D72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571875"/>
            <a:ext cx="3286125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Dexie／IndexedDB 或 postgres／PostgreSQL；schema、CRUD、角色篩選與後續稽核。</a:t>
            </a:r>
          </a:p>
        </p:txBody>
      </p:sp>
    </p:spTree>
    <p:extLst>
      <p:ext uri="{BB962C8B-B14F-4D97-AF65-F5344CB8AC3E}">
        <p14:creationId xmlns:p14="http://schemas.microsoft.com/office/powerpoint/2010/main" val="1723725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4">
            <a:extLst xmlns:a="http://schemas.openxmlformats.org/drawingml/2006/main">
              <a:ext uri="{FF2B5EF4-FFF2-40B4-BE49-F238E27FC236}">
                <a16:creationId xmlns:a16="http://schemas.microsoft.com/office/drawing/2014/main" id="{BF979EDE-D228-4C6B-AB27-9ECC64DF9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Domain model：拓樸檔案用一個 Project 封裝完整狀態</a:t>
            </a:r>
          </a:p>
        </p:txBody>
      </p:sp>
      <p:sp>
        <p:nvSpPr>
          <p:cNvPr id="2" name="title-accent-4">
            <a:extLst xmlns:a="http://schemas.openxmlformats.org/drawingml/2006/main">
              <a:ext uri="{FF2B5EF4-FFF2-40B4-BE49-F238E27FC236}">
                <a16:creationId xmlns:a16="http://schemas.microsoft.com/office/drawing/2014/main" id="{4192D34C-4E31-4A1F-9FA8-8EB8972D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4">
            <a:extLst xmlns:a="http://schemas.openxmlformats.org/drawingml/2006/main">
              <a:ext uri="{FF2B5EF4-FFF2-40B4-BE49-F238E27FC236}">
                <a16:creationId xmlns:a16="http://schemas.microsoft.com/office/drawing/2014/main" id="{00DD8415-F120-4C0F-BBA9-BEEE384B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ARCHITECTURE ABSTRACT</a:t>
            </a:r>
          </a:p>
        </p:txBody>
      </p:sp>
      <p:sp>
        <p:nvSpPr>
          <p:cNvPr id="4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9C3E0E0E-3C0D-4B59-BD10-AF46FFBA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5" name="hier-arrow-4-0">
            <a:extLst xmlns:a="http://schemas.openxmlformats.org/drawingml/2006/main">
              <a:ext uri="{FF2B5EF4-FFF2-40B4-BE49-F238E27FC236}">
                <a16:creationId xmlns:a16="http://schemas.microsoft.com/office/drawing/2014/main" id="{2015F840-03FD-4FEC-AF38-C9204510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905125"/>
            <a:ext cx="3619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ier-arrow-4-1">
            <a:extLst xmlns:a="http://schemas.openxmlformats.org/drawingml/2006/main">
              <a:ext uri="{FF2B5EF4-FFF2-40B4-BE49-F238E27FC236}">
                <a16:creationId xmlns:a16="http://schemas.microsoft.com/office/drawing/2014/main" id="{F66778F8-715F-42DE-BC39-E2688D4C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905125"/>
            <a:ext cx="3619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ier-arrow-4-2">
            <a:extLst xmlns:a="http://schemas.openxmlformats.org/drawingml/2006/main">
              <a:ext uri="{FF2B5EF4-FFF2-40B4-BE49-F238E27FC236}">
                <a16:creationId xmlns:a16="http://schemas.microsoft.com/office/drawing/2014/main" id="{B6D9D981-ADB3-401F-8B1D-715C26B0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05125"/>
            <a:ext cx="36195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hier-box-4-0">
            <a:extLst xmlns:a="http://schemas.openxmlformats.org/drawingml/2006/main">
              <a:ext uri="{FF2B5EF4-FFF2-40B4-BE49-F238E27FC236}">
                <a16:creationId xmlns:a16="http://schemas.microsoft.com/office/drawing/2014/main" id="{E0903628-57D3-4E13-8669-05C36B23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28875"/>
            <a:ext cx="1952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hier-heading-4-0">
            <a:extLst xmlns:a="http://schemas.openxmlformats.org/drawingml/2006/main">
              <a:ext uri="{FF2B5EF4-FFF2-40B4-BE49-F238E27FC236}">
                <a16:creationId xmlns:a16="http://schemas.microsoft.com/office/drawing/2014/main" id="{F0576645-0B2A-472D-BB9E-7440D751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193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Customer</a:t>
            </a:r>
          </a:p>
        </p:txBody>
      </p:sp>
      <p:sp>
        <p:nvSpPr>
          <p:cNvPr id="10" name="hier-body-4-0">
            <a:extLst xmlns:a="http://schemas.openxmlformats.org/drawingml/2006/main">
              <a:ext uri="{FF2B5EF4-FFF2-40B4-BE49-F238E27FC236}">
                <a16:creationId xmlns:a16="http://schemas.microsoft.com/office/drawing/2014/main" id="{7B1860B5-9A8A-4348-984A-65590BC6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一個客戶</a:t>
            </a:r>
          </a:p>
        </p:txBody>
      </p:sp>
      <p:sp>
        <p:nvSpPr>
          <p:cNvPr id="11" name="hier-box-4-1">
            <a:extLst xmlns:a="http://schemas.openxmlformats.org/drawingml/2006/main">
              <a:ext uri="{FF2B5EF4-FFF2-40B4-BE49-F238E27FC236}">
                <a16:creationId xmlns:a16="http://schemas.microsoft.com/office/drawing/2014/main" id="{3252256A-D61C-4A79-AB49-007ABA08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28875"/>
            <a:ext cx="1952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hier-heading-4-1">
            <a:extLst xmlns:a="http://schemas.openxmlformats.org/drawingml/2006/main">
              <a:ext uri="{FF2B5EF4-FFF2-40B4-BE49-F238E27FC236}">
                <a16:creationId xmlns:a16="http://schemas.microsoft.com/office/drawing/2014/main" id="{D1170776-3BE7-4502-BDD5-1A0B1BBA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6193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Topology</a:t>
            </a:r>
          </a:p>
        </p:txBody>
      </p:sp>
      <p:sp>
        <p:nvSpPr>
          <p:cNvPr id="13" name="hier-body-4-1">
            <a:extLst xmlns:a="http://schemas.openxmlformats.org/drawingml/2006/main">
              <a:ext uri="{FF2B5EF4-FFF2-40B4-BE49-F238E27FC236}">
                <a16:creationId xmlns:a16="http://schemas.microsoft.com/office/drawing/2014/main" id="{D33B8524-9AEE-40ED-BF95-A65614DF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14325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多場域／多版本</a:t>
            </a:r>
          </a:p>
        </p:txBody>
      </p:sp>
      <p:sp>
        <p:nvSpPr>
          <p:cNvPr id="14" name="hier-box-4-2">
            <a:extLst xmlns:a="http://schemas.openxmlformats.org/drawingml/2006/main">
              <a:ext uri="{FF2B5EF4-FFF2-40B4-BE49-F238E27FC236}">
                <a16:creationId xmlns:a16="http://schemas.microsoft.com/office/drawing/2014/main" id="{11E4A62A-4612-4CF6-879C-7B1491EA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28875"/>
            <a:ext cx="1952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5" name="hier-heading-4-2">
            <a:extLst xmlns:a="http://schemas.openxmlformats.org/drawingml/2006/main">
              <a:ext uri="{FF2B5EF4-FFF2-40B4-BE49-F238E27FC236}">
                <a16:creationId xmlns:a16="http://schemas.microsoft.com/office/drawing/2014/main" id="{F2EFA767-D5DE-44C4-B8A2-A9B24FB24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1609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Project</a:t>
            </a:r>
          </a:p>
        </p:txBody>
      </p:sp>
      <p:sp>
        <p:nvSpPr>
          <p:cNvPr id="16" name="hier-body-4-2">
            <a:extLst xmlns:a="http://schemas.openxmlformats.org/drawingml/2006/main">
              <a:ext uri="{FF2B5EF4-FFF2-40B4-BE49-F238E27FC236}">
                <a16:creationId xmlns:a16="http://schemas.microsoft.com/office/drawing/2014/main" id="{F3FDE426-15F0-419D-A744-60A23D18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143250"/>
            <a:ext cx="16478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畫布可序列化狀態</a:t>
            </a:r>
          </a:p>
        </p:txBody>
      </p:sp>
      <p:sp>
        <p:nvSpPr>
          <p:cNvPr id="17" name="hier-leaf-4-0">
            <a:extLst xmlns:a="http://schemas.openxmlformats.org/drawingml/2006/main">
              <a:ext uri="{FF2B5EF4-FFF2-40B4-BE49-F238E27FC236}">
                <a16:creationId xmlns:a16="http://schemas.microsoft.com/office/drawing/2014/main" id="{5D50CEE6-4695-41B1-8992-D3FAC0B9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52625"/>
            <a:ext cx="2428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8" name="hier-leaf-text-4-0">
            <a:extLst xmlns:a="http://schemas.openxmlformats.org/drawingml/2006/main">
              <a:ext uri="{FF2B5EF4-FFF2-40B4-BE49-F238E27FC236}">
                <a16:creationId xmlns:a16="http://schemas.microsoft.com/office/drawing/2014/main" id="{6ACA4CA4-AEE3-4FF5-943D-B93BC8B2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1050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devices[]</a:t>
            </a:r>
          </a:p>
        </p:txBody>
      </p:sp>
      <p:sp>
        <p:nvSpPr>
          <p:cNvPr id="19" name="hier-leaf-4-1">
            <a:extLst xmlns:a="http://schemas.openxmlformats.org/drawingml/2006/main">
              <a:ext uri="{FF2B5EF4-FFF2-40B4-BE49-F238E27FC236}">
                <a16:creationId xmlns:a16="http://schemas.microsoft.com/office/drawing/2014/main" id="{DC515F49-AA37-4F83-8AE7-14765C5C6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86075"/>
            <a:ext cx="2428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hier-leaf-text-4-1">
            <a:extLst xmlns:a="http://schemas.openxmlformats.org/drawingml/2006/main">
              <a:ext uri="{FF2B5EF4-FFF2-40B4-BE49-F238E27FC236}">
                <a16:creationId xmlns:a16="http://schemas.microsoft.com/office/drawing/2014/main" id="{BF9FA07D-C7CC-485F-BF84-C97834EBC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3847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links[]</a:t>
            </a:r>
          </a:p>
        </p:txBody>
      </p:sp>
      <p:sp>
        <p:nvSpPr>
          <p:cNvPr id="21" name="hier-leaf-4-2">
            <a:extLst xmlns:a="http://schemas.openxmlformats.org/drawingml/2006/main">
              <a:ext uri="{FF2B5EF4-FFF2-40B4-BE49-F238E27FC236}">
                <a16:creationId xmlns:a16="http://schemas.microsoft.com/office/drawing/2014/main" id="{927DB882-FF64-451D-9669-7EC90387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9525"/>
            <a:ext cx="2428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2" name="hier-leaf-text-4-2">
            <a:extLst xmlns:a="http://schemas.openxmlformats.org/drawingml/2006/main">
              <a:ext uri="{FF2B5EF4-FFF2-40B4-BE49-F238E27FC236}">
                <a16:creationId xmlns:a16="http://schemas.microsoft.com/office/drawing/2014/main" id="{8F616305-DD21-4812-8922-B5CDABC77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71925"/>
            <a:ext cx="21240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groups[]</a:t>
            </a:r>
          </a:p>
        </p:txBody>
      </p:sp>
      <p:sp>
        <p:nvSpPr>
          <p:cNvPr id="23" name="hier-callout-4">
            <a:extLst xmlns:a="http://schemas.openxmlformats.org/drawingml/2006/main">
              <a:ext uri="{FF2B5EF4-FFF2-40B4-BE49-F238E27FC236}">
                <a16:creationId xmlns:a16="http://schemas.microsoft.com/office/drawing/2014/main" id="{334F366D-4250-42D6-B928-D1E36735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7334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7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TopologyRecord 再補 site、owner、createdBy、updatedBy，讓同一份 Project 進入多人權限模型。</a:t>
            </a:r>
          </a:p>
        </p:txBody>
      </p:sp>
    </p:spTree>
    <p:extLst>
      <p:ext uri="{BB962C8B-B14F-4D97-AF65-F5344CB8AC3E}">
        <p14:creationId xmlns:p14="http://schemas.microsoft.com/office/powerpoint/2010/main" val="950627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itle-5">
            <a:extLst xmlns:a="http://schemas.openxmlformats.org/drawingml/2006/main">
              <a:ext uri="{FF2B5EF4-FFF2-40B4-BE49-F238E27FC236}">
                <a16:creationId xmlns:a16="http://schemas.microsoft.com/office/drawing/2014/main" id="{FB148BFC-51C9-47B5-847C-118B2CA1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圖面引擎把 domain data 轉成可互動、可整理的拓樸</a:t>
            </a:r>
          </a:p>
        </p:txBody>
      </p:sp>
      <p:sp>
        <p:nvSpPr>
          <p:cNvPr id="2" name="title-accent-5">
            <a:extLst xmlns:a="http://schemas.openxmlformats.org/drawingml/2006/main">
              <a:ext uri="{FF2B5EF4-FFF2-40B4-BE49-F238E27FC236}">
                <a16:creationId xmlns:a16="http://schemas.microsoft.com/office/drawing/2014/main" id="{23C7BA4E-4CAA-46DA-B133-2ADF8004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5">
            <a:extLst xmlns:a="http://schemas.openxmlformats.org/drawingml/2006/main">
              <a:ext uri="{FF2B5EF4-FFF2-40B4-BE49-F238E27FC236}">
                <a16:creationId xmlns:a16="http://schemas.microsoft.com/office/drawing/2014/main" id="{C9899B62-EDFD-4BFE-85AA-A931BA7F0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ARCHITECTURE ABSTRACT</a:t>
            </a:r>
          </a:p>
        </p:txBody>
      </p:sp>
      <p:sp>
        <p:nvSpPr>
          <p:cNvPr id="4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76FB22C1-C131-494D-BCE2-ACA5E91A0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5" name="quad-rule-5-0">
            <a:extLst xmlns:a="http://schemas.openxmlformats.org/drawingml/2006/main">
              <a:ext uri="{FF2B5EF4-FFF2-40B4-BE49-F238E27FC236}">
                <a16:creationId xmlns:a16="http://schemas.microsoft.com/office/drawing/2014/main" id="{10B31E03-7D26-44B2-9B20-30AC726B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quad-heading-5-0">
            <a:extLst xmlns:a="http://schemas.openxmlformats.org/drawingml/2006/main">
              <a:ext uri="{FF2B5EF4-FFF2-40B4-BE49-F238E27FC236}">
                <a16:creationId xmlns:a16="http://schemas.microsoft.com/office/drawing/2014/main" id="{B22B09D1-6BF0-4908-9FFA-53691E52A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81225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React Flow</a:t>
            </a:r>
          </a:p>
        </p:txBody>
      </p:sp>
      <p:sp>
        <p:nvSpPr>
          <p:cNvPr id="7" name="quad-body-5-0">
            <a:extLst xmlns:a="http://schemas.openxmlformats.org/drawingml/2006/main">
              <a:ext uri="{FF2B5EF4-FFF2-40B4-BE49-F238E27FC236}">
                <a16:creationId xmlns:a16="http://schemas.microsoft.com/office/drawing/2014/main" id="{5A938766-776E-482F-AA83-98F72F5F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71775"/>
            <a:ext cx="531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節點、縮放、拖曳、選取、控制器與 minimap。</a:t>
            </a:r>
          </a:p>
        </p:txBody>
      </p:sp>
      <p:sp>
        <p:nvSpPr>
          <p:cNvPr id="8" name="quad-rule-5-1">
            <a:extLst xmlns:a="http://schemas.openxmlformats.org/drawingml/2006/main">
              <a:ext uri="{FF2B5EF4-FFF2-40B4-BE49-F238E27FC236}">
                <a16:creationId xmlns:a16="http://schemas.microsoft.com/office/drawing/2014/main" id="{E89FF551-FD05-4525-B5A9-F72B7C3E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52625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uad-heading-5-1">
            <a:extLst xmlns:a="http://schemas.openxmlformats.org/drawingml/2006/main">
              <a:ext uri="{FF2B5EF4-FFF2-40B4-BE49-F238E27FC236}">
                <a16:creationId xmlns:a16="http://schemas.microsoft.com/office/drawing/2014/main" id="{6670AC25-25FA-41F6-819F-B4C0C21F5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Layout 策略</a:t>
            </a:r>
          </a:p>
        </p:txBody>
      </p:sp>
      <p:sp>
        <p:nvSpPr>
          <p:cNvPr id="10" name="quad-body-5-1">
            <a:extLst xmlns:a="http://schemas.openxmlformats.org/drawingml/2006/main">
              <a:ext uri="{FF2B5EF4-FFF2-40B4-BE49-F238E27FC236}">
                <a16:creationId xmlns:a16="http://schemas.microsoft.com/office/drawing/2014/main" id="{E7B8A50A-6984-4446-A019-36C4176C1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71775"/>
            <a:ext cx="531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自動判斷三層式、Spine-Leaf；其餘交給 ELK layered。</a:t>
            </a:r>
          </a:p>
        </p:txBody>
      </p:sp>
      <p:sp>
        <p:nvSpPr>
          <p:cNvPr id="11" name="quad-rule-5-2">
            <a:extLst xmlns:a="http://schemas.openxmlformats.org/drawingml/2006/main">
              <a:ext uri="{FF2B5EF4-FFF2-40B4-BE49-F238E27FC236}">
                <a16:creationId xmlns:a16="http://schemas.microsoft.com/office/drawing/2014/main" id="{73B9DE18-4BCD-485D-A968-F7F6B35CF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quad-heading-5-2">
            <a:extLst xmlns:a="http://schemas.openxmlformats.org/drawingml/2006/main">
              <a:ext uri="{FF2B5EF4-FFF2-40B4-BE49-F238E27FC236}">
                <a16:creationId xmlns:a16="http://schemas.microsoft.com/office/drawing/2014/main" id="{5690A412-CFBA-459C-8C84-694A3ADE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229100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Link routing</a:t>
            </a:r>
          </a:p>
        </p:txBody>
      </p:sp>
      <p:sp>
        <p:nvSpPr>
          <p:cNvPr id="13" name="quad-body-5-2">
            <a:extLst xmlns:a="http://schemas.openxmlformats.org/drawingml/2006/main">
              <a:ext uri="{FF2B5EF4-FFF2-40B4-BE49-F238E27FC236}">
                <a16:creationId xmlns:a16="http://schemas.microsoft.com/office/drawing/2014/main" id="{FE23AB5F-58CA-4331-A4BC-2F2D8D4B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819650"/>
            <a:ext cx="531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正交路徑、障礙物檢查、平行 channel 與 label placement。</a:t>
            </a:r>
          </a:p>
        </p:txBody>
      </p:sp>
      <p:sp>
        <p:nvSpPr>
          <p:cNvPr id="14" name="quad-rule-5-3">
            <a:extLst xmlns:a="http://schemas.openxmlformats.org/drawingml/2006/main">
              <a:ext uri="{FF2B5EF4-FFF2-40B4-BE49-F238E27FC236}">
                <a16:creationId xmlns:a16="http://schemas.microsoft.com/office/drawing/2014/main" id="{5D42EE51-50FC-4553-B34A-4F776587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0050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quad-heading-5-3">
            <a:extLst xmlns:a="http://schemas.openxmlformats.org/drawingml/2006/main">
              <a:ext uri="{FF2B5EF4-FFF2-40B4-BE49-F238E27FC236}">
                <a16:creationId xmlns:a16="http://schemas.microsoft.com/office/drawing/2014/main" id="{EFC0FBAF-AEFE-402B-8FE5-40570686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29100"/>
            <a:ext cx="5314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Panel workspace</a:t>
            </a:r>
          </a:p>
        </p:txBody>
      </p:sp>
      <p:sp>
        <p:nvSpPr>
          <p:cNvPr id="16" name="quad-body-5-3">
            <a:extLst xmlns:a="http://schemas.openxmlformats.org/drawingml/2006/main">
              <a:ext uri="{FF2B5EF4-FFF2-40B4-BE49-F238E27FC236}">
                <a16:creationId xmlns:a16="http://schemas.microsoft.com/office/drawing/2014/main" id="{798FCA89-E8F4-47D8-92B0-1DEF5C1C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819650"/>
            <a:ext cx="53149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左清單、中畫布、右 inspector；保存並驗證 panel layout。</a:t>
            </a:r>
          </a:p>
        </p:txBody>
      </p:sp>
    </p:spTree>
    <p:extLst>
      <p:ext uri="{BB962C8B-B14F-4D97-AF65-F5344CB8AC3E}">
        <p14:creationId xmlns:p14="http://schemas.microsoft.com/office/powerpoint/2010/main" val="739957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itle-6">
            <a:extLst xmlns:a="http://schemas.openxmlformats.org/drawingml/2006/main">
              <a:ext uri="{FF2B5EF4-FFF2-40B4-BE49-F238E27FC236}">
                <a16:creationId xmlns:a16="http://schemas.microsoft.com/office/drawing/2014/main" id="{1B474653-016A-4650-B13E-E403A802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Storage mode 是部署選項，不應滲透到每一個 UI 動作</a:t>
            </a:r>
          </a:p>
        </p:txBody>
      </p:sp>
      <p:sp>
        <p:nvSpPr>
          <p:cNvPr id="2" name="title-accent-6">
            <a:extLst xmlns:a="http://schemas.openxmlformats.org/drawingml/2006/main">
              <a:ext uri="{FF2B5EF4-FFF2-40B4-BE49-F238E27FC236}">
                <a16:creationId xmlns:a16="http://schemas.microsoft.com/office/drawing/2014/main" id="{9FEC4573-89A3-49D2-9A9B-5ECF8A05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6">
            <a:extLst xmlns:a="http://schemas.openxmlformats.org/drawingml/2006/main">
              <a:ext uri="{FF2B5EF4-FFF2-40B4-BE49-F238E27FC236}">
                <a16:creationId xmlns:a16="http://schemas.microsoft.com/office/drawing/2014/main" id="{ECEA0D11-59D4-4C45-95A4-8252FD70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ARCHITECTURE ABSTRACT</a:t>
            </a:r>
          </a:p>
        </p:txBody>
      </p:sp>
      <p:sp>
        <p:nvSpPr>
          <p:cNvPr id="4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6063D489-A9F0-4495-8376-D08A93BC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5" name="two-v-6">
            <a:extLst xmlns:a="http://schemas.openxmlformats.org/drawingml/2006/main">
              <a:ext uri="{FF2B5EF4-FFF2-40B4-BE49-F238E27FC236}">
                <a16:creationId xmlns:a16="http://schemas.microsoft.com/office/drawing/2014/main" id="{3CF4AFDA-391B-4109-9F87-6426C99C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05000"/>
            <a:ext cx="95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two-label-6-0">
            <a:extLst xmlns:a="http://schemas.openxmlformats.org/drawingml/2006/main">
              <a:ext uri="{FF2B5EF4-FFF2-40B4-BE49-F238E27FC236}">
                <a16:creationId xmlns:a16="http://schemas.microsoft.com/office/drawing/2014/main" id="{B296DA6B-BA26-4022-97CE-BE161D3D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CLIENT REPOSITORY</a:t>
            </a:r>
          </a:p>
        </p:txBody>
      </p:sp>
      <p:sp>
        <p:nvSpPr>
          <p:cNvPr id="7" name="two-heading-6-0">
            <a:extLst xmlns:a="http://schemas.openxmlformats.org/drawingml/2006/main">
              <a:ext uri="{FF2B5EF4-FFF2-40B4-BE49-F238E27FC236}">
                <a16:creationId xmlns:a16="http://schemas.microsoft.com/office/drawing/2014/main" id="{43B533CE-A5D3-4C5C-842E-515544653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IndexedDB／Dexie</a:t>
            </a:r>
          </a:p>
        </p:txBody>
      </p:sp>
      <p:sp>
        <p:nvSpPr>
          <p:cNvPr id="8" name="two-body-6-0">
            <a:extLst xmlns:a="http://schemas.openxmlformats.org/drawingml/2006/main">
              <a:ext uri="{FF2B5EF4-FFF2-40B4-BE49-F238E27FC236}">
                <a16:creationId xmlns:a16="http://schemas.microsoft.com/office/drawing/2014/main" id="{7118DB09-CC60-43EF-9FB3-493A1DDD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76625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customers、topologies、meta 三張本地表。</a:t>
            </a:r>
          </a:p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保留舊 localStorage 遷移與 active selection；單機時 currentUser 視為 local admin。</a:t>
            </a:r>
          </a:p>
        </p:txBody>
      </p:sp>
      <p:sp>
        <p:nvSpPr>
          <p:cNvPr id="9" name="two-label-6-1">
            <a:extLst xmlns:a="http://schemas.openxmlformats.org/drawingml/2006/main">
              <a:ext uri="{FF2B5EF4-FFF2-40B4-BE49-F238E27FC236}">
                <a16:creationId xmlns:a16="http://schemas.microsoft.com/office/drawing/2014/main" id="{77E0866E-4C25-4FEC-8327-FD9F0D1BA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952625"/>
            <a:ext cx="485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SERVER REPOSITORY</a:t>
            </a:r>
          </a:p>
        </p:txBody>
      </p:sp>
      <p:sp>
        <p:nvSpPr>
          <p:cNvPr id="10" name="two-heading-6-1">
            <a:extLst xmlns:a="http://schemas.openxmlformats.org/drawingml/2006/main">
              <a:ext uri="{FF2B5EF4-FFF2-40B4-BE49-F238E27FC236}">
                <a16:creationId xmlns:a16="http://schemas.microsoft.com/office/drawing/2014/main" id="{DB8FECC4-C900-4105-996E-61A39A0C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24125"/>
            <a:ext cx="495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5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API／PostgreSQL</a:t>
            </a:r>
          </a:p>
        </p:txBody>
      </p:sp>
      <p:sp>
        <p:nvSpPr>
          <p:cNvPr id="11" name="two-body-6-1">
            <a:extLst xmlns:a="http://schemas.openxmlformats.org/drawingml/2006/main">
              <a:ext uri="{FF2B5EF4-FFF2-40B4-BE49-F238E27FC236}">
                <a16:creationId xmlns:a16="http://schemas.microsoft.com/office/drawing/2014/main" id="{B1D7B4CB-584A-47FE-8935-B35171E8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476625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相同 create、rename、duplicate、delete、save 行為改成 POST action。</a:t>
            </a:r>
          </a:p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伺服器依 user、site、owner 讀寫資料。</a:t>
            </a:r>
          </a:p>
        </p:txBody>
      </p:sp>
      <p:sp>
        <p:nvSpPr>
          <p:cNvPr id="12" name="two-bridge-6">
            <a:extLst xmlns:a="http://schemas.openxmlformats.org/drawingml/2006/main">
              <a:ext uri="{FF2B5EF4-FFF2-40B4-BE49-F238E27FC236}">
                <a16:creationId xmlns:a16="http://schemas.microsoft.com/office/drawing/2014/main" id="{9C5E9931-FD7C-420B-A063-24D1E11A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61975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useTopologyStore 提供共用應用層介面</a:t>
            </a:r>
          </a:p>
        </p:txBody>
      </p:sp>
    </p:spTree>
    <p:extLst>
      <p:ext uri="{BB962C8B-B14F-4D97-AF65-F5344CB8AC3E}">
        <p14:creationId xmlns:p14="http://schemas.microsoft.com/office/powerpoint/2010/main" val="1255919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7">
            <a:extLst xmlns:a="http://schemas.openxmlformats.org/drawingml/2006/main">
              <a:ext uri="{FF2B5EF4-FFF2-40B4-BE49-F238E27FC236}">
                <a16:creationId xmlns:a16="http://schemas.microsoft.com/office/drawing/2014/main" id="{06EDE62F-1B8B-4C32-8F87-A6956D9A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API 目前採集中 action endpoint，權限在資料層再次判斷</a:t>
            </a:r>
          </a:p>
        </p:txBody>
      </p:sp>
      <p:sp>
        <p:nvSpPr>
          <p:cNvPr id="2" name="title-accent-7">
            <a:extLst xmlns:a="http://schemas.openxmlformats.org/drawingml/2006/main">
              <a:ext uri="{FF2B5EF4-FFF2-40B4-BE49-F238E27FC236}">
                <a16:creationId xmlns:a16="http://schemas.microsoft.com/office/drawing/2014/main" id="{AE8603C7-621C-428C-A5C1-A25313EB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7">
            <a:extLst xmlns:a="http://schemas.openxmlformats.org/drawingml/2006/main">
              <a:ext uri="{FF2B5EF4-FFF2-40B4-BE49-F238E27FC236}">
                <a16:creationId xmlns:a16="http://schemas.microsoft.com/office/drawing/2014/main" id="{2F4411B0-A6D7-4DE1-9AA0-44DD9895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ARCHITECTURE ABSTRACT</a:t>
            </a:r>
          </a:p>
        </p:txBody>
      </p:sp>
      <p:sp>
        <p:nvSpPr>
          <p:cNvPr id="4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0E21A2D2-F51E-45C2-B3AE-16992F0DB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sp>
        <p:nvSpPr>
          <p:cNvPr id="5" name="mapping-intro-title-7">
            <a:extLst xmlns:a="http://schemas.openxmlformats.org/drawingml/2006/main">
              <a:ext uri="{FF2B5EF4-FFF2-40B4-BE49-F238E27FC236}">
                <a16:creationId xmlns:a16="http://schemas.microsoft.com/office/drawing/2014/main" id="{FE1B1BF8-1FFE-43A0-BC99-8519BD22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333625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/api/topology</a:t>
            </a:r>
          </a:p>
        </p:txBody>
      </p:sp>
      <p:sp>
        <p:nvSpPr>
          <p:cNvPr id="6" name="mapping-intro-body-7">
            <a:extLst xmlns:a="http://schemas.openxmlformats.org/drawingml/2006/main">
              <a:ext uri="{FF2B5EF4-FFF2-40B4-BE49-F238E27FC236}">
                <a16:creationId xmlns:a16="http://schemas.microsoft.com/office/drawing/2014/main" id="{743B4298-17CC-41A8-868E-1C252ACE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0"/>
            <a:ext cx="3333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GET 回傳目前使用者可讀 dataset；POST 依 action 執行 CRUD。route 做輸入形狀檢查，DB 層做讀寫權限判定。</a:t>
            </a:r>
          </a:p>
        </p:txBody>
      </p:sp>
      <p:sp>
        <p:nvSpPr>
          <p:cNvPr id="7" name="mapping-key-7-0">
            <a:extLst xmlns:a="http://schemas.openxmlformats.org/drawingml/2006/main">
              <a:ext uri="{FF2B5EF4-FFF2-40B4-BE49-F238E27FC236}">
                <a16:creationId xmlns:a16="http://schemas.microsoft.com/office/drawing/2014/main" id="{FF95CCFB-90BB-40F8-8D33-8EE258C7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boss</a:t>
            </a:r>
          </a:p>
        </p:txBody>
      </p:sp>
      <p:sp>
        <p:nvSpPr>
          <p:cNvPr id="8" name="mapping-line-7-0">
            <a:extLst xmlns:a="http://schemas.openxmlformats.org/drawingml/2006/main">
              <a:ext uri="{FF2B5EF4-FFF2-40B4-BE49-F238E27FC236}">
                <a16:creationId xmlns:a16="http://schemas.microsoft.com/office/drawing/2014/main" id="{4D9FAB81-B85F-46E6-AB86-92718A7C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860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pping-value-7-0">
            <a:extLst xmlns:a="http://schemas.openxmlformats.org/drawingml/2006/main">
              <a:ext uri="{FF2B5EF4-FFF2-40B4-BE49-F238E27FC236}">
                <a16:creationId xmlns:a16="http://schemas.microsoft.com/office/drawing/2014/main" id="{0C92CE54-1E4E-481C-97C0-C75B24CA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2383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全部可讀寫；只有此角色可刪客戶</a:t>
            </a:r>
          </a:p>
        </p:txBody>
      </p:sp>
      <p:sp>
        <p:nvSpPr>
          <p:cNvPr id="10" name="mapping-key-7-1">
            <a:extLst xmlns:a="http://schemas.openxmlformats.org/drawingml/2006/main">
              <a:ext uri="{FF2B5EF4-FFF2-40B4-BE49-F238E27FC236}">
                <a16:creationId xmlns:a16="http://schemas.microsoft.com/office/drawing/2014/main" id="{745EBFD4-EE58-4343-97A1-1F885900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1146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site_manager</a:t>
            </a:r>
          </a:p>
        </p:txBody>
      </p:sp>
      <p:sp>
        <p:nvSpPr>
          <p:cNvPr id="11" name="mapping-line-7-1">
            <a:extLst xmlns:a="http://schemas.openxmlformats.org/drawingml/2006/main">
              <a:ext uri="{FF2B5EF4-FFF2-40B4-BE49-F238E27FC236}">
                <a16:creationId xmlns:a16="http://schemas.microsoft.com/office/drawing/2014/main" id="{9D4634FD-92EC-4D05-8B9B-8BDED66F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623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apping-value-7-1">
            <a:extLst xmlns:a="http://schemas.openxmlformats.org/drawingml/2006/main">
              <a:ext uri="{FF2B5EF4-FFF2-40B4-BE49-F238E27FC236}">
                <a16:creationId xmlns:a16="http://schemas.microsoft.com/office/drawing/2014/main" id="{F3E43438-5455-424F-A3C6-16AFF206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146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依 user_sites 讀寫本站拓樸</a:t>
            </a:r>
          </a:p>
        </p:txBody>
      </p:sp>
      <p:sp>
        <p:nvSpPr>
          <p:cNvPr id="13" name="mapping-key-7-2">
            <a:extLst xmlns:a="http://schemas.openxmlformats.org/drawingml/2006/main">
              <a:ext uri="{FF2B5EF4-FFF2-40B4-BE49-F238E27FC236}">
                <a16:creationId xmlns:a16="http://schemas.microsoft.com/office/drawing/2014/main" id="{0EA93A9F-8F6B-4FA2-AF89-D5E5FB18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909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engineer</a:t>
            </a:r>
          </a:p>
        </p:txBody>
      </p:sp>
      <p:sp>
        <p:nvSpPr>
          <p:cNvPr id="14" name="mapping-line-7-2">
            <a:extLst xmlns:a="http://schemas.openxmlformats.org/drawingml/2006/main">
              <a:ext uri="{FF2B5EF4-FFF2-40B4-BE49-F238E27FC236}">
                <a16:creationId xmlns:a16="http://schemas.microsoft.com/office/drawing/2014/main" id="{3C40F83C-255C-4156-AE29-A9C8F083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386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pping-value-7-2">
            <a:extLst xmlns:a="http://schemas.openxmlformats.org/drawingml/2006/main">
              <a:ext uri="{FF2B5EF4-FFF2-40B4-BE49-F238E27FC236}">
                <a16:creationId xmlns:a16="http://schemas.microsoft.com/office/drawing/2014/main" id="{9ED0E68A-15DF-4B04-9337-687B5651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9909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只讀寫 own／created topology</a:t>
            </a:r>
          </a:p>
        </p:txBody>
      </p:sp>
      <p:sp>
        <p:nvSpPr>
          <p:cNvPr id="16" name="mapping-key-7-3">
            <a:extLst xmlns:a="http://schemas.openxmlformats.org/drawingml/2006/main">
              <a:ext uri="{FF2B5EF4-FFF2-40B4-BE49-F238E27FC236}">
                <a16:creationId xmlns:a16="http://schemas.microsoft.com/office/drawing/2014/main" id="{EFF36C37-7C54-4F9F-B6DB-2D00E42C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67275"/>
            <a:ext cx="2095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8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sales</a:t>
            </a:r>
          </a:p>
        </p:txBody>
      </p:sp>
      <p:sp>
        <p:nvSpPr>
          <p:cNvPr id="17" name="mapping-line-7-3">
            <a:extLst xmlns:a="http://schemas.openxmlformats.org/drawingml/2006/main">
              <a:ext uri="{FF2B5EF4-FFF2-40B4-BE49-F238E27FC236}">
                <a16:creationId xmlns:a16="http://schemas.microsoft.com/office/drawing/2014/main" id="{78A4175D-F836-46B6-B142-FC0B0109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114925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mapping-value-7-3">
            <a:extLst xmlns:a="http://schemas.openxmlformats.org/drawingml/2006/main">
              <a:ext uri="{FF2B5EF4-FFF2-40B4-BE49-F238E27FC236}">
                <a16:creationId xmlns:a16="http://schemas.microsoft.com/office/drawing/2014/main" id="{C984BCCA-4AE1-4A35-8D21-C5B0E8CC4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867275"/>
            <a:ext cx="409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可讀全部，但不可新增與修改</a:t>
            </a:r>
          </a:p>
        </p:txBody>
      </p:sp>
    </p:spTree>
    <p:extLst>
      <p:ext uri="{BB962C8B-B14F-4D97-AF65-F5344CB8AC3E}">
        <p14:creationId xmlns:p14="http://schemas.microsoft.com/office/powerpoint/2010/main" val="198170181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title-8">
            <a:extLst xmlns:a="http://schemas.openxmlformats.org/drawingml/2006/main">
              <a:ext uri="{FF2B5EF4-FFF2-40B4-BE49-F238E27FC236}">
                <a16:creationId xmlns:a16="http://schemas.microsoft.com/office/drawing/2014/main" id="{D697B104-B4CF-4351-A4A9-EB7811BB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PostgreSQL 採混合模型：先保相容，再逐步正規化</a:t>
            </a:r>
          </a:p>
        </p:txBody>
      </p:sp>
      <p:sp>
        <p:nvSpPr>
          <p:cNvPr id="2" name="title-accent-8">
            <a:extLst xmlns:a="http://schemas.openxmlformats.org/drawingml/2006/main">
              <a:ext uri="{FF2B5EF4-FFF2-40B4-BE49-F238E27FC236}">
                <a16:creationId xmlns:a16="http://schemas.microsoft.com/office/drawing/2014/main" id="{5204BFAA-F55C-4232-A76E-38D15801A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8">
            <a:extLst xmlns:a="http://schemas.openxmlformats.org/drawingml/2006/main">
              <a:ext uri="{FF2B5EF4-FFF2-40B4-BE49-F238E27FC236}">
                <a16:creationId xmlns:a16="http://schemas.microsoft.com/office/drawing/2014/main" id="{7F89EB61-5E71-48E8-B704-D9E26B64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ARCHITECTURE ABSTRACT</a:t>
            </a:r>
          </a:p>
        </p:txBody>
      </p:sp>
      <p:sp>
        <p:nvSpPr>
          <p:cNvPr id="4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921F5490-ADFA-489F-B8BE-826AD970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5" name="schema-arrow-8-0">
            <a:extLst xmlns:a="http://schemas.openxmlformats.org/drawingml/2006/main">
              <a:ext uri="{FF2B5EF4-FFF2-40B4-BE49-F238E27FC236}">
                <a16:creationId xmlns:a16="http://schemas.microsoft.com/office/drawing/2014/main" id="{A647A6A0-6AA5-4190-83EA-26DD4AD3F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57500"/>
            <a:ext cx="428625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schema-arrow-8-1">
            <a:extLst xmlns:a="http://schemas.openxmlformats.org/drawingml/2006/main">
              <a:ext uri="{FF2B5EF4-FFF2-40B4-BE49-F238E27FC236}">
                <a16:creationId xmlns:a16="http://schemas.microsoft.com/office/drawing/2014/main" id="{DDD924AE-92D6-45AF-9A35-7BE1AC1C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57500"/>
            <a:ext cx="428625" cy="2667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chema-jsonb-8">
            <a:extLst xmlns:a="http://schemas.openxmlformats.org/drawingml/2006/main">
              <a:ext uri="{FF2B5EF4-FFF2-40B4-BE49-F238E27FC236}">
                <a16:creationId xmlns:a16="http://schemas.microsoft.com/office/drawing/2014/main" id="{963174AA-80AD-4FC1-BCF9-647BD8F8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47875"/>
            <a:ext cx="3905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8" name="schema-jsonb-title-8">
            <a:extLst xmlns:a="http://schemas.openxmlformats.org/drawingml/2006/main">
              <a:ext uri="{FF2B5EF4-FFF2-40B4-BE49-F238E27FC236}">
                <a16:creationId xmlns:a16="http://schemas.microsoft.com/office/drawing/2014/main" id="{0F06D48E-64DB-4326-86AD-57AC061A0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33625"/>
            <a:ext cx="3429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3589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topologies.project JSONB</a:t>
            </a:r>
          </a:p>
        </p:txBody>
      </p:sp>
      <p:sp>
        <p:nvSpPr>
          <p:cNvPr id="9" name="schema-jsonb-body-8">
            <a:extLst xmlns:a="http://schemas.openxmlformats.org/drawingml/2006/main">
              <a:ext uri="{FF2B5EF4-FFF2-40B4-BE49-F238E27FC236}">
                <a16:creationId xmlns:a16="http://schemas.microsoft.com/office/drawing/2014/main" id="{4B36E96E-C2AF-42D5-95FA-581CED9E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095625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目前 UI 的完整來源</a:t>
            </a:r>
          </a:p>
          <a:p xmlns:a="http://schemas.openxmlformats.org/drawingml/2006/main">
            <a:pPr algn="ctr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確保功能不因拆表中斷</a:t>
            </a:r>
          </a:p>
        </p:txBody>
      </p:sp>
      <p:sp>
        <p:nvSpPr>
          <p:cNvPr id="10" name="schema-left-8-0">
            <a:extLst xmlns:a="http://schemas.openxmlformats.org/drawingml/2006/main">
              <a:ext uri="{FF2B5EF4-FFF2-40B4-BE49-F238E27FC236}">
                <a16:creationId xmlns:a16="http://schemas.microsoft.com/office/drawing/2014/main" id="{1884682F-00D7-425D-9115-CE64CDF1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2714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schema-left-text-8-0">
            <a:extLst xmlns:a="http://schemas.openxmlformats.org/drawingml/2006/main">
              <a:ext uri="{FF2B5EF4-FFF2-40B4-BE49-F238E27FC236}">
                <a16:creationId xmlns:a16="http://schemas.microsoft.com/office/drawing/2014/main" id="{6AE68D25-D180-4351-9E59-6BE24F78C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roles / permissions</a:t>
            </a:r>
          </a:p>
        </p:txBody>
      </p:sp>
      <p:sp>
        <p:nvSpPr>
          <p:cNvPr id="12" name="schema-left-8-1">
            <a:extLst xmlns:a="http://schemas.openxmlformats.org/drawingml/2006/main">
              <a:ext uri="{FF2B5EF4-FFF2-40B4-BE49-F238E27FC236}">
                <a16:creationId xmlns:a16="http://schemas.microsoft.com/office/drawing/2014/main" id="{1036A612-C035-45C7-87C0-A788794A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2714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schema-left-text-8-1">
            <a:extLst xmlns:a="http://schemas.openxmlformats.org/drawingml/2006/main">
              <a:ext uri="{FF2B5EF4-FFF2-40B4-BE49-F238E27FC236}">
                <a16:creationId xmlns:a16="http://schemas.microsoft.com/office/drawing/2014/main" id="{D7F4DBFE-BC55-4FD4-9F35-F12B92881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289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users / sites</a:t>
            </a:r>
          </a:p>
        </p:txBody>
      </p:sp>
      <p:sp>
        <p:nvSpPr>
          <p:cNvPr id="14" name="schema-left-8-2">
            <a:extLst xmlns:a="http://schemas.openxmlformats.org/drawingml/2006/main">
              <a:ext uri="{FF2B5EF4-FFF2-40B4-BE49-F238E27FC236}">
                <a16:creationId xmlns:a16="http://schemas.microsoft.com/office/drawing/2014/main" id="{AFDDF255-9098-4181-8EEF-A12FD558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71875"/>
            <a:ext cx="2714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schema-left-text-8-2">
            <a:extLst xmlns:a="http://schemas.openxmlformats.org/drawingml/2006/main">
              <a:ext uri="{FF2B5EF4-FFF2-40B4-BE49-F238E27FC236}">
                <a16:creationId xmlns:a16="http://schemas.microsoft.com/office/drawing/2014/main" id="{D78CD080-9B97-4893-BA2C-308A8B441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customers / profiles</a:t>
            </a:r>
          </a:p>
        </p:txBody>
      </p:sp>
      <p:sp>
        <p:nvSpPr>
          <p:cNvPr id="16" name="schema-right-8-0">
            <a:extLst xmlns:a="http://schemas.openxmlformats.org/drawingml/2006/main">
              <a:ext uri="{FF2B5EF4-FFF2-40B4-BE49-F238E27FC236}">
                <a16:creationId xmlns:a16="http://schemas.microsoft.com/office/drawing/2014/main" id="{A27D0838-8F25-4661-9690-66DBBA6B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6212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schema-right-text-8-0">
            <a:extLst xmlns:a="http://schemas.openxmlformats.org/drawingml/2006/main">
              <a:ext uri="{FF2B5EF4-FFF2-40B4-BE49-F238E27FC236}">
                <a16:creationId xmlns:a16="http://schemas.microsoft.com/office/drawing/2014/main" id="{278E23FB-830E-4A7D-B7D3-E1163B56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92405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topology_devices</a:t>
            </a:r>
          </a:p>
        </p:txBody>
      </p:sp>
      <p:sp>
        <p:nvSpPr>
          <p:cNvPr id="18" name="schema-right-8-1">
            <a:extLst xmlns:a="http://schemas.openxmlformats.org/drawingml/2006/main">
              <a:ext uri="{FF2B5EF4-FFF2-40B4-BE49-F238E27FC236}">
                <a16:creationId xmlns:a16="http://schemas.microsoft.com/office/drawing/2014/main" id="{415B38FE-2EA3-4FD6-8146-01509B991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schema-right-text-8-1">
            <a:extLst xmlns:a="http://schemas.openxmlformats.org/drawingml/2006/main">
              <a:ext uri="{FF2B5EF4-FFF2-40B4-BE49-F238E27FC236}">
                <a16:creationId xmlns:a16="http://schemas.microsoft.com/office/drawing/2014/main" id="{3F640342-5B27-4B0D-8155-3D400FDF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828925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topology_links</a:t>
            </a:r>
          </a:p>
        </p:txBody>
      </p:sp>
      <p:sp>
        <p:nvSpPr>
          <p:cNvPr id="20" name="schema-right-8-2">
            <a:extLst xmlns:a="http://schemas.openxmlformats.org/drawingml/2006/main">
              <a:ext uri="{FF2B5EF4-FFF2-40B4-BE49-F238E27FC236}">
                <a16:creationId xmlns:a16="http://schemas.microsoft.com/office/drawing/2014/main" id="{954C92F1-3615-455F-A92D-DED7849A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2857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1" name="schema-right-text-8-2">
            <a:extLst xmlns:a="http://schemas.openxmlformats.org/drawingml/2006/main">
              <a:ext uri="{FF2B5EF4-FFF2-40B4-BE49-F238E27FC236}">
                <a16:creationId xmlns:a16="http://schemas.microsoft.com/office/drawing/2014/main" id="{C9F19D47-793D-4D03-9523-03A44FD8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733800"/>
            <a:ext cx="2533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7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topology_groups</a:t>
            </a:r>
          </a:p>
        </p:txBody>
      </p:sp>
      <p:sp>
        <p:nvSpPr>
          <p:cNvPr id="22" name="schema-bottom-rule-8">
            <a:extLst xmlns:a="http://schemas.openxmlformats.org/drawingml/2006/main">
              <a:ext uri="{FF2B5EF4-FFF2-40B4-BE49-F238E27FC236}">
                <a16:creationId xmlns:a16="http://schemas.microsoft.com/office/drawing/2014/main" id="{9B759C6C-4CCF-429C-B3EB-BCD5A64F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906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chema-bottom-a-8">
            <a:extLst xmlns:a="http://schemas.openxmlformats.org/drawingml/2006/main">
              <a:ext uri="{FF2B5EF4-FFF2-40B4-BE49-F238E27FC236}">
                <a16:creationId xmlns:a16="http://schemas.microsoft.com/office/drawing/2014/main" id="{D35B5972-4436-4F70-A2C7-7D2B124F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C2413B"/>
                </a:solidFill>
                <a:latin typeface="Microsoft JhengHei"/>
                <a:ea typeface="Microsoft JhengHei"/>
                <a:cs typeface="Microsoft JhengHei"/>
              </a:rPr>
              <a:t>device_credentials</a:t>
            </a:r>
          </a:p>
        </p:txBody>
      </p:sp>
      <p:sp>
        <p:nvSpPr>
          <p:cNvPr id="24" name="schema-bottom-b-8">
            <a:extLst xmlns:a="http://schemas.openxmlformats.org/drawingml/2006/main">
              <a:ext uri="{FF2B5EF4-FFF2-40B4-BE49-F238E27FC236}">
                <a16:creationId xmlns:a16="http://schemas.microsoft.com/office/drawing/2014/main" id="{418B632A-31E5-4970-8FEA-4C99322D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095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topology_versions</a:t>
            </a:r>
          </a:p>
        </p:txBody>
      </p:sp>
      <p:sp>
        <p:nvSpPr>
          <p:cNvPr id="25" name="schema-bottom-c-8">
            <a:extLst xmlns:a="http://schemas.openxmlformats.org/drawingml/2006/main">
              <a:ext uri="{FF2B5EF4-FFF2-40B4-BE49-F238E27FC236}">
                <a16:creationId xmlns:a16="http://schemas.microsoft.com/office/drawing/2014/main" id="{AD6EF00E-1DC7-4893-A694-A3EAA6FB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95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1">
                <a:solidFill>
                  <a:srgbClr val="D97706"/>
                </a:solidFill>
                <a:latin typeface="Microsoft JhengHei"/>
                <a:ea typeface="Microsoft JhengHei"/>
                <a:cs typeface="Microsoft JhengHei"/>
              </a:rPr>
              <a:t>audit_logs</a:t>
            </a:r>
          </a:p>
        </p:txBody>
      </p:sp>
    </p:spTree>
    <p:extLst>
      <p:ext uri="{BB962C8B-B14F-4D97-AF65-F5344CB8AC3E}">
        <p14:creationId xmlns:p14="http://schemas.microsoft.com/office/powerpoint/2010/main" val="9690231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title-9">
            <a:extLst xmlns:a="http://schemas.openxmlformats.org/drawingml/2006/main">
              <a:ext uri="{FF2B5EF4-FFF2-40B4-BE49-F238E27FC236}">
                <a16:creationId xmlns:a16="http://schemas.microsoft.com/office/drawing/2014/main" id="{A1E3E33E-08F1-4604-9FEE-B0A53B120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匯入邊界先產生 ImportPlan，確認後才改寫 Project</a:t>
            </a:r>
          </a:p>
        </p:txBody>
      </p:sp>
      <p:sp>
        <p:nvSpPr>
          <p:cNvPr id="2" name="title-accent-9">
            <a:extLst xmlns:a="http://schemas.openxmlformats.org/drawingml/2006/main">
              <a:ext uri="{FF2B5EF4-FFF2-40B4-BE49-F238E27FC236}">
                <a16:creationId xmlns:a16="http://schemas.microsoft.com/office/drawing/2014/main" id="{1F50903D-AB1B-4EB9-87A2-74A4B4CFB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9">
            <a:extLst xmlns:a="http://schemas.openxmlformats.org/drawingml/2006/main">
              <a:ext uri="{FF2B5EF4-FFF2-40B4-BE49-F238E27FC236}">
                <a16:creationId xmlns:a16="http://schemas.microsoft.com/office/drawing/2014/main" id="{150073F6-AC72-4D3C-8BBA-1535660E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ARCHITECTURE ABSTRACT</a:t>
            </a:r>
          </a:p>
        </p:txBody>
      </p:sp>
      <p:sp>
        <p:nvSpPr>
          <p:cNvPr id="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EE0673F0-38F8-477C-9B22-AC5601EE3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5" name="flow-arrow-9-0">
            <a:extLst xmlns:a="http://schemas.openxmlformats.org/drawingml/2006/main">
              <a:ext uri="{FF2B5EF4-FFF2-40B4-BE49-F238E27FC236}">
                <a16:creationId xmlns:a16="http://schemas.microsoft.com/office/drawing/2014/main" id="{5E2BB0C2-117E-4DC1-BB2A-64F197C8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550" y="3219450"/>
            <a:ext cx="1143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arrow-9-1">
            <a:extLst xmlns:a="http://schemas.openxmlformats.org/drawingml/2006/main">
              <a:ext uri="{FF2B5EF4-FFF2-40B4-BE49-F238E27FC236}">
                <a16:creationId xmlns:a16="http://schemas.microsoft.com/office/drawing/2014/main" id="{E394E191-A865-472D-9D07-00C12EFF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9725" y="3219450"/>
            <a:ext cx="1143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low-arrow-9-2">
            <a:extLst xmlns:a="http://schemas.openxmlformats.org/drawingml/2006/main">
              <a:ext uri="{FF2B5EF4-FFF2-40B4-BE49-F238E27FC236}">
                <a16:creationId xmlns:a16="http://schemas.microsoft.com/office/drawing/2014/main" id="{8288A430-5003-43FB-B23C-45CDE95F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19450"/>
            <a:ext cx="1143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flow-arrow-9-3">
            <a:extLst xmlns:a="http://schemas.openxmlformats.org/drawingml/2006/main">
              <a:ext uri="{FF2B5EF4-FFF2-40B4-BE49-F238E27FC236}">
                <a16:creationId xmlns:a16="http://schemas.microsoft.com/office/drawing/2014/main" id="{6E6034BB-0304-493E-A8E5-0D059691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6075" y="3219450"/>
            <a:ext cx="1143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flow-arrow-9-4">
            <a:extLst xmlns:a="http://schemas.openxmlformats.org/drawingml/2006/main">
              <a:ext uri="{FF2B5EF4-FFF2-40B4-BE49-F238E27FC236}">
                <a16:creationId xmlns:a16="http://schemas.microsoft.com/office/drawing/2014/main" id="{BC1D838F-31EC-4A38-BE1E-47EF4FC84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3219450"/>
            <a:ext cx="114300" cy="2476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flow-number-9-0">
            <a:extLst xmlns:a="http://schemas.openxmlformats.org/drawingml/2006/main">
              <a:ext uri="{FF2B5EF4-FFF2-40B4-BE49-F238E27FC236}">
                <a16:creationId xmlns:a16="http://schemas.microsoft.com/office/drawing/2014/main" id="{FFC9F74C-E362-449B-83F6-7DCA26DC7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177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01</a:t>
            </a:r>
          </a:p>
        </p:txBody>
      </p:sp>
      <p:sp>
        <p:nvSpPr>
          <p:cNvPr id="11" name="flow-node-rule-9-0">
            <a:extLst xmlns:a="http://schemas.openxmlformats.org/drawingml/2006/main">
              <a:ext uri="{FF2B5EF4-FFF2-40B4-BE49-F238E27FC236}">
                <a16:creationId xmlns:a16="http://schemas.microsoft.com/office/drawing/2014/main" id="{3A34F63A-C50E-4EE5-99AB-F0FD2476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971800"/>
            <a:ext cx="148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flow-heading-9-0">
            <a:extLst xmlns:a="http://schemas.openxmlformats.org/drawingml/2006/main">
              <a:ext uri="{FF2B5EF4-FFF2-40B4-BE49-F238E27FC236}">
                <a16:creationId xmlns:a16="http://schemas.microsoft.com/office/drawing/2014/main" id="{23F169D9-1E78-4DB6-B6CE-9387BCA72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162300"/>
            <a:ext cx="169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JSON／CSV</a:t>
            </a:r>
          </a:p>
        </p:txBody>
      </p:sp>
      <p:sp>
        <p:nvSpPr>
          <p:cNvPr id="13" name="flow-body-9-0">
            <a:extLst xmlns:a="http://schemas.openxmlformats.org/drawingml/2006/main">
              <a:ext uri="{FF2B5EF4-FFF2-40B4-BE49-F238E27FC236}">
                <a16:creationId xmlns:a16="http://schemas.microsoft.com/office/drawing/2014/main" id="{BB811399-0B19-4F41-B7A6-EE16BD1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69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versioned envelope</a:t>
            </a:r>
          </a:p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或三份 CSV</a:t>
            </a:r>
          </a:p>
        </p:txBody>
      </p:sp>
      <p:sp>
        <p:nvSpPr>
          <p:cNvPr id="14" name="flow-number-9-1">
            <a:extLst xmlns:a="http://schemas.openxmlformats.org/drawingml/2006/main">
              <a:ext uri="{FF2B5EF4-FFF2-40B4-BE49-F238E27FC236}">
                <a16:creationId xmlns:a16="http://schemas.microsoft.com/office/drawing/2014/main" id="{F82564B2-5399-4A56-A7EF-14DF7AA8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5375" y="2476500"/>
            <a:ext cx="177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15" name="flow-node-rule-9-1">
            <a:extLst xmlns:a="http://schemas.openxmlformats.org/drawingml/2006/main">
              <a:ext uri="{FF2B5EF4-FFF2-40B4-BE49-F238E27FC236}">
                <a16:creationId xmlns:a16="http://schemas.microsoft.com/office/drawing/2014/main" id="{B4058FAF-440C-4DBD-9A44-AE354C30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2971800"/>
            <a:ext cx="148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low-heading-9-1">
            <a:extLst xmlns:a="http://schemas.openxmlformats.org/drawingml/2006/main">
              <a:ext uri="{FF2B5EF4-FFF2-40B4-BE49-F238E27FC236}">
                <a16:creationId xmlns:a16="http://schemas.microsoft.com/office/drawing/2014/main" id="{58088B77-0DC9-417F-8B41-297BA3E65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3162300"/>
            <a:ext cx="169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Parse</a:t>
            </a:r>
          </a:p>
        </p:txBody>
      </p:sp>
      <p:sp>
        <p:nvSpPr>
          <p:cNvPr id="17" name="flow-body-9-1">
            <a:extLst xmlns:a="http://schemas.openxmlformats.org/drawingml/2006/main">
              <a:ext uri="{FF2B5EF4-FFF2-40B4-BE49-F238E27FC236}">
                <a16:creationId xmlns:a16="http://schemas.microsoft.com/office/drawing/2014/main" id="{3950CD95-97D7-4BFC-A016-0702CE3E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4000500"/>
            <a:ext cx="169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Papa Parse／JSON</a:t>
            </a:r>
          </a:p>
        </p:txBody>
      </p:sp>
      <p:sp>
        <p:nvSpPr>
          <p:cNvPr id="18" name="flow-number-9-2">
            <a:extLst xmlns:a="http://schemas.openxmlformats.org/drawingml/2006/main">
              <a:ext uri="{FF2B5EF4-FFF2-40B4-BE49-F238E27FC236}">
                <a16:creationId xmlns:a16="http://schemas.microsoft.com/office/drawing/2014/main" id="{D55B7E0D-E636-4E86-81AF-826F239D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550" y="2476500"/>
            <a:ext cx="177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19" name="flow-node-rule-9-2">
            <a:extLst xmlns:a="http://schemas.openxmlformats.org/drawingml/2006/main">
              <a:ext uri="{FF2B5EF4-FFF2-40B4-BE49-F238E27FC236}">
                <a16:creationId xmlns:a16="http://schemas.microsoft.com/office/drawing/2014/main" id="{315B8515-8B9F-4243-B888-445E5FC6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425" y="2971800"/>
            <a:ext cx="148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low-heading-9-2">
            <a:extLst xmlns:a="http://schemas.openxmlformats.org/drawingml/2006/main">
              <a:ext uri="{FF2B5EF4-FFF2-40B4-BE49-F238E27FC236}">
                <a16:creationId xmlns:a16="http://schemas.microsoft.com/office/drawing/2014/main" id="{15D7B5F2-BF70-42C0-80C9-4A2CF2C6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3162300"/>
            <a:ext cx="169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Zod</a:t>
            </a:r>
          </a:p>
        </p:txBody>
      </p:sp>
      <p:sp>
        <p:nvSpPr>
          <p:cNvPr id="21" name="flow-body-9-2">
            <a:extLst xmlns:a="http://schemas.openxmlformats.org/drawingml/2006/main">
              <a:ext uri="{FF2B5EF4-FFF2-40B4-BE49-F238E27FC236}">
                <a16:creationId xmlns:a16="http://schemas.microsoft.com/office/drawing/2014/main" id="{DE603C7E-BFEF-4D0D-9F4A-2D6D70850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50" y="4000500"/>
            <a:ext cx="169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型別與欄位驗證</a:t>
            </a:r>
          </a:p>
        </p:txBody>
      </p:sp>
      <p:sp>
        <p:nvSpPr>
          <p:cNvPr id="22" name="flow-number-9-3">
            <a:extLst xmlns:a="http://schemas.openxmlformats.org/drawingml/2006/main">
              <a:ext uri="{FF2B5EF4-FFF2-40B4-BE49-F238E27FC236}">
                <a16:creationId xmlns:a16="http://schemas.microsoft.com/office/drawing/2014/main" id="{62FBD016-F931-4E46-BC92-FFD3C160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476500"/>
            <a:ext cx="177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sp>
        <p:nvSpPr>
          <p:cNvPr id="23" name="flow-node-rule-9-3">
            <a:extLst xmlns:a="http://schemas.openxmlformats.org/drawingml/2006/main">
              <a:ext uri="{FF2B5EF4-FFF2-40B4-BE49-F238E27FC236}">
                <a16:creationId xmlns:a16="http://schemas.microsoft.com/office/drawing/2014/main" id="{B4723AE9-7152-49A4-BA89-5A4F6A2B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971800"/>
            <a:ext cx="148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flow-heading-9-3">
            <a:extLst xmlns:a="http://schemas.openxmlformats.org/drawingml/2006/main">
              <a:ext uri="{FF2B5EF4-FFF2-40B4-BE49-F238E27FC236}">
                <a16:creationId xmlns:a16="http://schemas.microsoft.com/office/drawing/2014/main" id="{64586E92-1101-4917-861B-557A0B74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162300"/>
            <a:ext cx="169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Relations</a:t>
            </a:r>
          </a:p>
        </p:txBody>
      </p:sp>
      <p:sp>
        <p:nvSpPr>
          <p:cNvPr id="25" name="flow-body-9-3">
            <a:extLst xmlns:a="http://schemas.openxmlformats.org/drawingml/2006/main">
              <a:ext uri="{FF2B5EF4-FFF2-40B4-BE49-F238E27FC236}">
                <a16:creationId xmlns:a16="http://schemas.microsoft.com/office/drawing/2014/main" id="{C92AADCC-4269-4D4E-B1F7-6DE72AED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4000500"/>
            <a:ext cx="169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ID、端點、group 引用</a:t>
            </a:r>
          </a:p>
        </p:txBody>
      </p:sp>
      <p:sp>
        <p:nvSpPr>
          <p:cNvPr id="26" name="flow-number-9-4">
            <a:extLst xmlns:a="http://schemas.openxmlformats.org/drawingml/2006/main">
              <a:ext uri="{FF2B5EF4-FFF2-40B4-BE49-F238E27FC236}">
                <a16:creationId xmlns:a16="http://schemas.microsoft.com/office/drawing/2014/main" id="{17BF4E4D-1D21-4F5D-827E-FFABEF02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2476500"/>
            <a:ext cx="177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sp>
        <p:nvSpPr>
          <p:cNvPr id="27" name="flow-node-rule-9-4">
            <a:extLst xmlns:a="http://schemas.openxmlformats.org/drawingml/2006/main">
              <a:ext uri="{FF2B5EF4-FFF2-40B4-BE49-F238E27FC236}">
                <a16:creationId xmlns:a16="http://schemas.microsoft.com/office/drawing/2014/main" id="{4321BE4A-D317-4CE6-8EFB-98AAD88A9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775" y="2971800"/>
            <a:ext cx="148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low-heading-9-4">
            <a:extLst xmlns:a="http://schemas.openxmlformats.org/drawingml/2006/main">
              <a:ext uri="{FF2B5EF4-FFF2-40B4-BE49-F238E27FC236}">
                <a16:creationId xmlns:a16="http://schemas.microsoft.com/office/drawing/2014/main" id="{27421A38-14C9-4155-9497-BBD27982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3162300"/>
            <a:ext cx="169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ImportPlan</a:t>
            </a:r>
          </a:p>
        </p:txBody>
      </p:sp>
      <p:sp>
        <p:nvSpPr>
          <p:cNvPr id="29" name="flow-body-9-4">
            <a:extLst xmlns:a="http://schemas.openxmlformats.org/drawingml/2006/main">
              <a:ext uri="{FF2B5EF4-FFF2-40B4-BE49-F238E27FC236}">
                <a16:creationId xmlns:a16="http://schemas.microsoft.com/office/drawing/2014/main" id="{75F836E4-D082-4B65-B719-EB36905F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000500"/>
            <a:ext cx="169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errors／warnings</a:t>
            </a:r>
          </a:p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summary</a:t>
            </a:r>
          </a:p>
        </p:txBody>
      </p:sp>
      <p:sp>
        <p:nvSpPr>
          <p:cNvPr id="30" name="flow-number-9-5">
            <a:extLst xmlns:a="http://schemas.openxmlformats.org/drawingml/2006/main">
              <a:ext uri="{FF2B5EF4-FFF2-40B4-BE49-F238E27FC236}">
                <a16:creationId xmlns:a16="http://schemas.microsoft.com/office/drawing/2014/main" id="{1B6C09A9-E4A2-4975-9802-7CD26C03B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2476500"/>
            <a:ext cx="17748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31" name="flow-node-rule-9-5">
            <a:extLst xmlns:a="http://schemas.openxmlformats.org/drawingml/2006/main">
              <a:ext uri="{FF2B5EF4-FFF2-40B4-BE49-F238E27FC236}">
                <a16:creationId xmlns:a16="http://schemas.microsoft.com/office/drawing/2014/main" id="{908450A2-4E5E-4108-A09E-5FB37002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0950" y="2971800"/>
            <a:ext cx="14890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flow-heading-9-5">
            <a:extLst xmlns:a="http://schemas.openxmlformats.org/drawingml/2006/main">
              <a:ext uri="{FF2B5EF4-FFF2-40B4-BE49-F238E27FC236}">
                <a16:creationId xmlns:a16="http://schemas.microsoft.com/office/drawing/2014/main" id="{93505F31-E7CA-4632-81DD-A8427099F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175" y="3162300"/>
            <a:ext cx="169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Apply</a:t>
            </a:r>
          </a:p>
        </p:txBody>
      </p:sp>
      <p:sp>
        <p:nvSpPr>
          <p:cNvPr id="33" name="flow-body-9-5">
            <a:extLst xmlns:a="http://schemas.openxmlformats.org/drawingml/2006/main">
              <a:ext uri="{FF2B5EF4-FFF2-40B4-BE49-F238E27FC236}">
                <a16:creationId xmlns:a16="http://schemas.microsoft.com/office/drawing/2014/main" id="{B4B531AC-4C6B-4E3E-BDAE-22DF3FF7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6175" y="4000500"/>
            <a:ext cx="1698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350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new／merge／replace</a:t>
            </a:r>
          </a:p>
        </p:txBody>
      </p:sp>
      <p:sp>
        <p:nvSpPr>
          <p:cNvPr id="34" name="flow-caption-9">
            <a:extLst xmlns:a="http://schemas.openxmlformats.org/drawingml/2006/main">
              <a:ext uri="{FF2B5EF4-FFF2-40B4-BE49-F238E27FC236}">
                <a16:creationId xmlns:a16="http://schemas.microsoft.com/office/drawing/2014/main" id="{EEB0EA50-E2D2-4F25-9637-48867889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4768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Safe export 會移除管理 IP、MAC、URL、位置與帳密欄位。</a:t>
            </a:r>
          </a:p>
        </p:txBody>
      </p:sp>
    </p:spTree>
    <p:extLst>
      <p:ext uri="{BB962C8B-B14F-4D97-AF65-F5344CB8AC3E}">
        <p14:creationId xmlns:p14="http://schemas.microsoft.com/office/powerpoint/2010/main" val="6984905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itle-10">
            <a:extLst xmlns:a="http://schemas.openxmlformats.org/drawingml/2006/main">
              <a:ext uri="{FF2B5EF4-FFF2-40B4-BE49-F238E27FC236}">
                <a16:creationId xmlns:a16="http://schemas.microsoft.com/office/drawing/2014/main" id="{2A1F8770-77F8-44C7-9F37-A146D58BF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113919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75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目前已從原型走到資料層過渡期，下一步是把安全與部署閉環</a:t>
            </a:r>
          </a:p>
        </p:txBody>
      </p:sp>
      <p:sp>
        <p:nvSpPr>
          <p:cNvPr id="2" name="title-accent-10">
            <a:extLst xmlns:a="http://schemas.openxmlformats.org/drawingml/2006/main">
              <a:ext uri="{FF2B5EF4-FFF2-40B4-BE49-F238E27FC236}">
                <a16:creationId xmlns:a16="http://schemas.microsoft.com/office/drawing/2014/main" id="{8A570D2A-F356-4615-8802-969B4D26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3825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footer-section-10">
            <a:extLst xmlns:a="http://schemas.openxmlformats.org/drawingml/2006/main">
              <a:ext uri="{FF2B5EF4-FFF2-40B4-BE49-F238E27FC236}">
                <a16:creationId xmlns:a16="http://schemas.microsoft.com/office/drawing/2014/main" id="{254375D8-0959-433D-ABF2-1D267A69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865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ARCHITECTURE ABSTRACT</a:t>
            </a:r>
          </a:p>
        </p:txBody>
      </p:sp>
      <p:sp>
        <p:nvSpPr>
          <p:cNvPr id="4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1FDFBDF8-B09D-4DA3-9583-2A67AE2A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125" b="0">
                <a:solidFill>
                  <a:srgbClr val="9AA1AC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5" name="milestone-card-10-0">
            <a:extLst xmlns:a="http://schemas.openxmlformats.org/drawingml/2006/main">
              <a:ext uri="{FF2B5EF4-FFF2-40B4-BE49-F238E27FC236}">
                <a16:creationId xmlns:a16="http://schemas.microsoft.com/office/drawing/2014/main" id="{65BFF741-05F3-4DC7-9F20-9C68AE557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66875"/>
            <a:ext cx="3562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milestone-label-10-0">
            <a:extLst xmlns:a="http://schemas.openxmlformats.org/drawingml/2006/main">
              <a:ext uri="{FF2B5EF4-FFF2-40B4-BE49-F238E27FC236}">
                <a16:creationId xmlns:a16="http://schemas.microsoft.com/office/drawing/2014/main" id="{CB474426-A3DD-4564-AD3C-97745CED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COMPLETED</a:t>
            </a:r>
          </a:p>
        </p:txBody>
      </p:sp>
      <p:sp>
        <p:nvSpPr>
          <p:cNvPr id="7" name="milestone-heading-10-0">
            <a:extLst xmlns:a="http://schemas.openxmlformats.org/drawingml/2006/main">
              <a:ext uri="{FF2B5EF4-FFF2-40B4-BE49-F238E27FC236}">
                <a16:creationId xmlns:a16="http://schemas.microsoft.com/office/drawing/2014/main" id="{DF578A6A-859E-4B7C-BF00-EDD22B75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3028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可用原型</a:t>
            </a:r>
          </a:p>
        </p:txBody>
      </p:sp>
      <p:sp>
        <p:nvSpPr>
          <p:cNvPr id="8" name="milestone-body-10-0">
            <a:extLst xmlns:a="http://schemas.openxmlformats.org/drawingml/2006/main">
              <a:ext uri="{FF2B5EF4-FFF2-40B4-BE49-F238E27FC236}">
                <a16:creationId xmlns:a16="http://schemas.microsoft.com/office/drawing/2014/main" id="{E5DC119A-77D2-49F4-A6ED-65FD4754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302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拓樸編輯與自動排版</a:t>
            </a:r>
          </a:p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多客戶／多拓樸</a:t>
            </a:r>
          </a:p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JSON／CSV 匯入匯出</a:t>
            </a:r>
          </a:p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本地與 server mode</a:t>
            </a:r>
          </a:p>
        </p:txBody>
      </p:sp>
      <p:sp>
        <p:nvSpPr>
          <p:cNvPr id="9" name="milestone-bottom-10-0">
            <a:extLst xmlns:a="http://schemas.openxmlformats.org/drawingml/2006/main">
              <a:ext uri="{FF2B5EF4-FFF2-40B4-BE49-F238E27FC236}">
                <a16:creationId xmlns:a16="http://schemas.microsoft.com/office/drawing/2014/main" id="{21ACC150-6EB8-4FA4-9585-458F72718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816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目前核心互動已成形</a:t>
            </a:r>
          </a:p>
        </p:txBody>
      </p:sp>
      <p:sp>
        <p:nvSpPr>
          <p:cNvPr id="10" name="milestone-card-10-1">
            <a:extLst xmlns:a="http://schemas.openxmlformats.org/drawingml/2006/main">
              <a:ext uri="{FF2B5EF4-FFF2-40B4-BE49-F238E27FC236}">
                <a16:creationId xmlns:a16="http://schemas.microsoft.com/office/drawing/2014/main" id="{5B4FE9FD-6D65-459D-88D3-0B09F61B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1666875"/>
            <a:ext cx="3562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11" name="milestone-label-10-1">
            <a:extLst xmlns:a="http://schemas.openxmlformats.org/drawingml/2006/main">
              <a:ext uri="{FF2B5EF4-FFF2-40B4-BE49-F238E27FC236}">
                <a16:creationId xmlns:a16="http://schemas.microsoft.com/office/drawing/2014/main" id="{D958492B-5596-4803-BD4E-E89E62D7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5262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TRANSITION</a:t>
            </a:r>
          </a:p>
        </p:txBody>
      </p:sp>
      <p:sp>
        <p:nvSpPr>
          <p:cNvPr id="12" name="milestone-heading-10-1">
            <a:extLst xmlns:a="http://schemas.openxmlformats.org/drawingml/2006/main">
              <a:ext uri="{FF2B5EF4-FFF2-40B4-BE49-F238E27FC236}">
                <a16:creationId xmlns:a16="http://schemas.microsoft.com/office/drawing/2014/main" id="{2785A062-C658-4C12-A906-7E345EEB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524125"/>
            <a:ext cx="3028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資料正式化</a:t>
            </a:r>
          </a:p>
        </p:txBody>
      </p:sp>
      <p:sp>
        <p:nvSpPr>
          <p:cNvPr id="13" name="milestone-body-10-1">
            <a:extLst xmlns:a="http://schemas.openxmlformats.org/drawingml/2006/main">
              <a:ext uri="{FF2B5EF4-FFF2-40B4-BE49-F238E27FC236}">
                <a16:creationId xmlns:a16="http://schemas.microsoft.com/office/drawing/2014/main" id="{91F1CA9F-FD4A-44BB-A828-59EFDB81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429000"/>
            <a:ext cx="302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Drizzle schema 與 baseline migration 已建立；JSONB 與正規化表仍需同步與驗證。</a:t>
            </a:r>
          </a:p>
        </p:txBody>
      </p:sp>
      <p:sp>
        <p:nvSpPr>
          <p:cNvPr id="14" name="milestone-bottom-10-1">
            <a:extLst xmlns:a="http://schemas.openxmlformats.org/drawingml/2006/main">
              <a:ext uri="{FF2B5EF4-FFF2-40B4-BE49-F238E27FC236}">
                <a16:creationId xmlns:a16="http://schemas.microsoft.com/office/drawing/2014/main" id="{6DD8537E-5930-4AB1-815C-CEFA1A7F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53816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目前開發焦點</a:t>
            </a:r>
          </a:p>
        </p:txBody>
      </p:sp>
      <p:sp>
        <p:nvSpPr>
          <p:cNvPr id="15" name="milestone-card-10-2">
            <a:extLst xmlns:a="http://schemas.openxmlformats.org/drawingml/2006/main">
              <a:ext uri="{FF2B5EF4-FFF2-40B4-BE49-F238E27FC236}">
                <a16:creationId xmlns:a16="http://schemas.microsoft.com/office/drawing/2014/main" id="{55C1CF41-0338-4691-BFED-2C3762207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666875"/>
            <a:ext cx="35623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milestone-label-10-2">
            <a:extLst xmlns:a="http://schemas.openxmlformats.org/drawingml/2006/main">
              <a:ext uri="{FF2B5EF4-FFF2-40B4-BE49-F238E27FC236}">
                <a16:creationId xmlns:a16="http://schemas.microsoft.com/office/drawing/2014/main" id="{4AFA97E3-3A01-4599-B3AC-D0656712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52625"/>
            <a:ext cx="3028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425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NEXT</a:t>
            </a:r>
          </a:p>
        </p:txBody>
      </p:sp>
      <p:sp>
        <p:nvSpPr>
          <p:cNvPr id="17" name="milestone-heading-10-2">
            <a:extLst xmlns:a="http://schemas.openxmlformats.org/drawingml/2006/main">
              <a:ext uri="{FF2B5EF4-FFF2-40B4-BE49-F238E27FC236}">
                <a16:creationId xmlns:a16="http://schemas.microsoft.com/office/drawing/2014/main" id="{86E4CC25-63D6-4D81-9E68-9F67C88FF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524125"/>
            <a:ext cx="30289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325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內網產品化</a:t>
            </a:r>
          </a:p>
        </p:txBody>
      </p:sp>
      <p:sp>
        <p:nvSpPr>
          <p:cNvPr id="18" name="milestone-body-10-2">
            <a:extLst xmlns:a="http://schemas.openxmlformats.org/drawingml/2006/main">
              <a:ext uri="{FF2B5EF4-FFF2-40B4-BE49-F238E27FC236}">
                <a16:creationId xmlns:a16="http://schemas.microsoft.com/office/drawing/2014/main" id="{26F8945F-4B69-44C3-B4BF-9C51E2D8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29000"/>
            <a:ext cx="30289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audit 寫入、secret 加密</a:t>
            </a:r>
          </a:p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本機 PostgreSQL live test</a:t>
            </a:r>
          </a:p>
          <a:p xmlns:a="http://schemas.openxmlformats.org/drawingml/2006/main">
            <a:pPr algn="l">
              <a:def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備份／還原／正式登入</a:t>
            </a:r>
          </a:p>
        </p:txBody>
      </p:sp>
      <p:sp>
        <p:nvSpPr>
          <p:cNvPr id="19" name="milestone-bottom-10-2">
            <a:extLst xmlns:a="http://schemas.openxmlformats.org/drawingml/2006/main">
              <a:ext uri="{FF2B5EF4-FFF2-40B4-BE49-F238E27FC236}">
                <a16:creationId xmlns:a16="http://schemas.microsoft.com/office/drawing/2014/main" id="{71452913-C25C-47B2-87D4-929CB7F5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381625"/>
            <a:ext cx="3028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部署前必完成</a:t>
            </a:r>
          </a:p>
        </p:txBody>
      </p:sp>
    </p:spTree>
    <p:extLst>
      <p:ext uri="{BB962C8B-B14F-4D97-AF65-F5344CB8AC3E}">
        <p14:creationId xmlns:p14="http://schemas.microsoft.com/office/powerpoint/2010/main" val="100105890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rchitecture-close-eyebrow">
            <a:extLst xmlns:a="http://schemas.openxmlformats.org/drawingml/2006/main">
              <a:ext uri="{FF2B5EF4-FFF2-40B4-BE49-F238E27FC236}">
                <a16:creationId xmlns:a16="http://schemas.microsoft.com/office/drawing/2014/main" id="{84E98D34-30F8-4039-B49D-9A04A0DB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1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ARCHITECTURE ABSTRACT</a:t>
            </a:r>
          </a:p>
        </p:txBody>
      </p:sp>
      <p:sp>
        <p:nvSpPr>
          <p:cNvPr id="2" name="architecture-close-accent">
            <a:extLst xmlns:a="http://schemas.openxmlformats.org/drawingml/2006/main">
              <a:ext uri="{FF2B5EF4-FFF2-40B4-BE49-F238E27FC236}">
                <a16:creationId xmlns:a16="http://schemas.microsoft.com/office/drawing/2014/main" id="{D28513B5-6AAB-4F37-B081-DBB49D98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238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rchitecture-close-title">
            <a:extLst xmlns:a="http://schemas.openxmlformats.org/drawingml/2006/main">
              <a:ext uri="{FF2B5EF4-FFF2-40B4-BE49-F238E27FC236}">
                <a16:creationId xmlns:a16="http://schemas.microsoft.com/office/drawing/2014/main" id="{2A287914-1E84-48D0-A348-795C07E9E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52625"/>
            <a:ext cx="10001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以 Project 為核心，</a:t>
            </a:r>
          </a:p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以 Storage Port 解耦，</a:t>
            </a:r>
          </a:p>
          <a:p xmlns:a="http://schemas.openxmlformats.org/drawingml/2006/main">
            <a:pPr algn="l">
              <a:def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5100" b="1">
                <a:solidFill>
                  <a:srgbClr val="111827"/>
                </a:solidFill>
                <a:latin typeface="Microsoft JhengHei"/>
                <a:ea typeface="Microsoft JhengHei"/>
                <a:cs typeface="Microsoft JhengHei"/>
              </a:rPr>
              <a:t>以 RBAC 與驗證收斂風險。</a:t>
            </a:r>
          </a:p>
        </p:txBody>
      </p:sp>
      <p:sp>
        <p:nvSpPr>
          <p:cNvPr id="4" name="architecture-close-subtitle">
            <a:extLst xmlns:a="http://schemas.openxmlformats.org/drawingml/2006/main">
              <a:ext uri="{FF2B5EF4-FFF2-40B4-BE49-F238E27FC236}">
                <a16:creationId xmlns:a16="http://schemas.microsoft.com/office/drawing/2014/main" id="{55A825DC-DAFE-42D2-9C79-F0C2B2E1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00625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5F6673"/>
                </a:solidFill>
                <a:latin typeface="Microsoft JhengHei"/>
                <a:ea typeface="Microsoft JhengHei"/>
                <a:cs typeface="Microsoft JhengHei"/>
              </a:rPr>
              <a:t>近期優先：migration runner、validateProject、secret／audit、PostgreSQL live test。</a:t>
            </a:r>
          </a:p>
        </p:txBody>
      </p:sp>
    </p:spTree>
    <p:extLst>
      <p:ext uri="{BB962C8B-B14F-4D97-AF65-F5344CB8AC3E}">
        <p14:creationId xmlns:p14="http://schemas.microsoft.com/office/powerpoint/2010/main" val="15101287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2026-08-02T12:50:55.3100000Z</dcterms:created>
  <dcterms:modified xsi:type="dcterms:W3CDTF">2026-08-02T12:50:55.3100000Z</dcterms:modified>
</coreProperties>
</file>