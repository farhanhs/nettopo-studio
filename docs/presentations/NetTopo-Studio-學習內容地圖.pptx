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2cb3c205fc4838" /><Relationship Type="http://schemas.openxmlformats.org/officeDocument/2006/relationships/extended-properties" Target="/docProps/app.xml" Id="Rea9023b9a4294799" /><Relationship Type="http://schemas.openxmlformats.org/officeDocument/2006/relationships/officeDocument" Target="/ppt/presentation.xml" Id="R31d89062bc5243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4ec6504d574b2f"/>
  </p:sldMasterIdLst>
  <p:notesMasterIdLst>
    <p:notesMasterId xmlns:r="http://schemas.openxmlformats.org/officeDocument/2006/relationships" r:id="Re74a384b00d74a62"/>
  </p:notesMasterIdLst>
  <p:sldIdLst>
    <p:sldId xmlns:r="http://schemas.openxmlformats.org/officeDocument/2006/relationships" id="256" r:id="R4c56f548c6e74878"/>
    <p:sldId xmlns:r="http://schemas.openxmlformats.org/officeDocument/2006/relationships" id="257" r:id="R403ef8df6250475a"/>
    <p:sldId xmlns:r="http://schemas.openxmlformats.org/officeDocument/2006/relationships" id="258" r:id="R71236ae0a0244107"/>
    <p:sldId xmlns:r="http://schemas.openxmlformats.org/officeDocument/2006/relationships" id="259" r:id="R41d9ab3fbffe4bac"/>
    <p:sldId xmlns:r="http://schemas.openxmlformats.org/officeDocument/2006/relationships" id="260" r:id="R9d5ea66c1ede468c"/>
    <p:sldId xmlns:r="http://schemas.openxmlformats.org/officeDocument/2006/relationships" id="261" r:id="R15f5ea5395fc449e"/>
    <p:sldId xmlns:r="http://schemas.openxmlformats.org/officeDocument/2006/relationships" id="262" r:id="R790ab01fa5694606"/>
    <p:sldId xmlns:r="http://schemas.openxmlformats.org/officeDocument/2006/relationships" id="263" r:id="R747efc5ef7b041e9"/>
    <p:sldId xmlns:r="http://schemas.openxmlformats.org/officeDocument/2006/relationships" id="264" r:id="Ra29665d570444bcf"/>
    <p:sldId xmlns:r="http://schemas.openxmlformats.org/officeDocument/2006/relationships" id="265" r:id="R6ac4d06c217a4025"/>
    <p:sldId xmlns:r="http://schemas.openxmlformats.org/officeDocument/2006/relationships" id="266" r:id="Rce0954e73ac54f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a02ebbbf5642aa" /><Relationship Type="http://schemas.openxmlformats.org/officeDocument/2006/relationships/slideMaster" Target="/ppt/slideMasters/slideMaster1.xml" Id="R974ec6504d574b2f" /><Relationship Type="http://schemas.openxmlformats.org/officeDocument/2006/relationships/notesMaster" Target="/ppt/notesMasters/notesMaster1.xml" Id="Re74a384b00d74a62" /><Relationship Type="http://schemas.openxmlformats.org/officeDocument/2006/relationships/presProps" Target="/ppt/presProps.xml" Id="R6bf2350109a142c8" /><Relationship Type="http://schemas.openxmlformats.org/officeDocument/2006/relationships/tableStyles" Target="/ppt/tableStyles.xml" Id="R37d7f572df034f98" /><Relationship Type="http://schemas.openxmlformats.org/officeDocument/2006/relationships/slide" Target="/ppt/slides/slide1.xml" Id="R4c56f548c6e74878" /><Relationship Type="http://schemas.openxmlformats.org/officeDocument/2006/relationships/slide" Target="/ppt/slides/slide2.xml" Id="R403ef8df6250475a" /><Relationship Type="http://schemas.openxmlformats.org/officeDocument/2006/relationships/slide" Target="/ppt/slides/slide3.xml" Id="R71236ae0a0244107" /><Relationship Type="http://schemas.openxmlformats.org/officeDocument/2006/relationships/slide" Target="/ppt/slides/slide4.xml" Id="R41d9ab3fbffe4bac" /><Relationship Type="http://schemas.openxmlformats.org/officeDocument/2006/relationships/slide" Target="/ppt/slides/slide5.xml" Id="R9d5ea66c1ede468c" /><Relationship Type="http://schemas.openxmlformats.org/officeDocument/2006/relationships/slide" Target="/ppt/slides/slide6.xml" Id="R15f5ea5395fc449e" /><Relationship Type="http://schemas.openxmlformats.org/officeDocument/2006/relationships/slide" Target="/ppt/slides/slide7.xml" Id="R790ab01fa5694606" /><Relationship Type="http://schemas.openxmlformats.org/officeDocument/2006/relationships/slide" Target="/ppt/slides/slide8.xml" Id="R747efc5ef7b041e9" /><Relationship Type="http://schemas.openxmlformats.org/officeDocument/2006/relationships/slide" Target="/ppt/slides/slide9.xml" Id="Ra29665d570444bcf" /><Relationship Type="http://schemas.openxmlformats.org/officeDocument/2006/relationships/slide" Target="/ppt/slides/slide10.xml" Id="R6ac4d06c217a4025" /><Relationship Type="http://schemas.openxmlformats.org/officeDocument/2006/relationships/slide" Target="/ppt/slides/slide11.xml" Id="Rce0954e73ac54f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9a9d7d0dde49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12f757fa1b4ee6" /><Relationship Type="http://schemas.openxmlformats.org/officeDocument/2006/relationships/notesMaster" Target="/ppt/notesMasters/notesMaster1.xml" Id="R174b3f18aa314f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8b8ea38f7e4b89" /><Relationship Type="http://schemas.openxmlformats.org/officeDocument/2006/relationships/notesMaster" Target="/ppt/notesMasters/notesMaster1.xml" Id="R21a0c039fd2a42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15d951dd414a5f" /><Relationship Type="http://schemas.openxmlformats.org/officeDocument/2006/relationships/notesMaster" Target="/ppt/notesMasters/notesMaster1.xml" Id="R1d033b2c5a984f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e0614e75d84b8f" /><Relationship Type="http://schemas.openxmlformats.org/officeDocument/2006/relationships/notesMaster" Target="/ppt/notesMasters/notesMaster1.xml" Id="R50b2e536177640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9d22b25cb24ef7" /><Relationship Type="http://schemas.openxmlformats.org/officeDocument/2006/relationships/notesMaster" Target="/ppt/notesMasters/notesMaster1.xml" Id="R2f3ae63b31be45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fa91252f554434" /><Relationship Type="http://schemas.openxmlformats.org/officeDocument/2006/relationships/notesMaster" Target="/ppt/notesMasters/notesMaster1.xml" Id="R8548092b3cdb45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f7df255afb4ec1" /><Relationship Type="http://schemas.openxmlformats.org/officeDocument/2006/relationships/notesMaster" Target="/ppt/notesMasters/notesMaster1.xml" Id="R5fac5ca2c57943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050ceac5734e94" /><Relationship Type="http://schemas.openxmlformats.org/officeDocument/2006/relationships/notesMaster" Target="/ppt/notesMasters/notesMaster1.xml" Id="R98ccc766f11f4b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8216fa441b4199" /><Relationship Type="http://schemas.openxmlformats.org/officeDocument/2006/relationships/notesMaster" Target="/ppt/notesMasters/notesMaster1.xml" Id="R37b5da1532b941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23b2c880844650" /><Relationship Type="http://schemas.openxmlformats.org/officeDocument/2006/relationships/notesMaster" Target="/ppt/notesMasters/notesMaster1.xml" Id="R7e34dddb1f6f48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f2d0277eb04697" /><Relationship Type="http://schemas.openxmlformats.org/officeDocument/2006/relationships/notesMaster" Target="/ppt/notesMasters/notesMaster1.xml" Id="Rbc207c0210ca41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C:\Users\DUS\Desktop\project\nettopo-studio\package.json</a:t>
            </a:r>
          </a:p>
          <a:p xmlns:a="http://schemas.openxmlformats.org/drawingml/2006/main">
            <a:r>
              <a:t>- Prior project task: 技術棧與底層學習順序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C:\Users\DUS\Desktop\project\nettopo-studio\package.json</a:t>
            </a:r>
          </a:p>
          <a:p xmlns:a="http://schemas.openxmlformats.org/drawingml/2006/main">
            <a:r>
              <a:t>- C:\Users\DUS\Desktop\project\nettopo-studio\app\lib\topology-store.ts</a:t>
            </a:r>
          </a:p>
          <a:p xmlns:a="http://schemas.openxmlformats.org/drawingml/2006/main">
            <a:r>
              <a:t>- C:\Users\DUS\Desktop\project\nettopo-studio\app\api\topology\route.ts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Prior project task: 技術棧與底層學習順序</a:t>
            </a:r>
          </a:p>
          <a:p xmlns:a="http://schemas.openxmlformats.org/drawingml/2006/main">
            <a:r>
              <a:t>- C:\Users\DUS\Desktop\project\nettopo-studio\docs\dev開發紀錄\開發計畫\開發計畫.md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C:\Users\DUS\Desktop\project\nettopo-studio\app\page.tsx</a:t>
            </a:r>
          </a:p>
          <a:p xmlns:a="http://schemas.openxmlformats.org/drawingml/2006/main">
            <a:r>
              <a:t>- C:\Users\DUS\Desktop\project\nettopo-studio\app\lib\topology-types.ts</a:t>
            </a:r>
          </a:p>
          <a:p xmlns:a="http://schemas.openxmlformats.org/drawingml/2006/main">
            <a:r>
              <a:t>- C:\Users\DUS\Desktop\project\nettopo-studio\app\lib\topology-store.ts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C:\Users\DUS\Desktop\project\nettopo-studio\app\page.tsx</a:t>
            </a:r>
          </a:p>
          <a:p xmlns:a="http://schemas.openxmlformats.org/drawingml/2006/main">
            <a:r>
              <a:t>- C:\Users\DUS\Desktop\project\nettopo-studio\app\lib\topology-store.ts</a:t>
            </a:r>
          </a:p>
          <a:p xmlns:a="http://schemas.openxmlformats.org/drawingml/2006/main">
            <a:r>
              <a:t>- C:\Users\DUS\Desktop\project\nettopo-studio\app\lib\topology-db.ts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C:\Users\DUS\Desktop\project\nettopo-studio\app\lib\topology-types.ts</a:t>
            </a:r>
          </a:p>
          <a:p xmlns:a="http://schemas.openxmlformats.org/drawingml/2006/main">
            <a:r>
              <a:t>- C:\Users\DUS\Desktop\project\nettopo-studio\app\lib\topology-transfer.ts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C:\Users\DUS\Desktop\project\nettopo-studio\app\lib\topology-store.ts</a:t>
            </a:r>
          </a:p>
          <a:p xmlns:a="http://schemas.openxmlformats.org/drawingml/2006/main">
            <a:r>
              <a:t>- C:\Users\DUS\Desktop\project\nettopo-studio\app\lib\topology-db.ts</a:t>
            </a:r>
          </a:p>
          <a:p xmlns:a="http://schemas.openxmlformats.org/drawingml/2006/main">
            <a:r>
              <a:t>- C:\Users\DUS\Desktop\project\nettopo-studio\db\topology-postgres.ts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C:\Users\DUS\Desktop\project\nettopo-studio\app\api\topology\route.ts</a:t>
            </a:r>
          </a:p>
          <a:p xmlns:a="http://schemas.openxmlformats.org/drawingml/2006/main">
            <a:r>
              <a:t>- C:\Users\DUS\Desktop\project\nettopo-studio\db\topology-postgres.ts</a:t>
            </a:r>
          </a:p>
          <a:p xmlns:a="http://schemas.openxmlformats.org/drawingml/2006/main">
            <a:r>
              <a:t>- C:\Users\DUS\Desktop\project\nettopo-studio\db\schema.ts</a:t>
            </a:r>
          </a:p>
          <a:p xmlns:a="http://schemas.openxmlformats.org/drawingml/2006/main">
            <a:r>
              <a:t>- Prior project task: PostgreSQL 與安全建置流程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C:\Users\DUS\Desktop\project\nettopo-studio\docs\dev開發紀錄\2026-08-02-postgresql-schema.md</a:t>
            </a:r>
          </a:p>
          <a:p xmlns:a="http://schemas.openxmlformats.org/drawingml/2006/main">
            <a:r>
              <a:t>- Prior project task: PostgreSQL 與安全建置流程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C:\Users\DUS\Desktop\project\nettopo-studio\app\lib\topology-types.ts</a:t>
            </a:r>
          </a:p>
          <a:p xmlns:a="http://schemas.openxmlformats.org/drawingml/2006/main">
            <a:r>
              <a:t>- C:\Users\DUS\Desktop\project\nettopo-studio\app\lib\topology-store.ts</a:t>
            </a:r>
          </a:p>
          <a:p xmlns:a="http://schemas.openxmlformats.org/drawingml/2006/main">
            <a:r>
              <a:t>- C:\Users\DUS\Desktop\project\nettopo-studio\app\page.tsx</a:t>
            </a:r>
          </a:p>
          <a:p xmlns:a="http://schemas.openxmlformats.org/drawingml/2006/main">
            <a:r>
              <a:t>- C:\Users\DUS\Desktop\project\nettopo-studio\app\lib\topology-transfer.ts</a:t>
            </a:r>
          </a:p>
          <a:p xmlns:a="http://schemas.openxmlformats.org/drawingml/2006/main">
            <a:r>
              <a:t>- C:\Users\DUS\Desktop\project\nettopo-studio\app\api\topology\route.ts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Prior project task: 技術棧與底層學習順序</a:t>
            </a:r>
          </a:p>
          <a:p xmlns:a="http://schemas.openxmlformats.org/drawingml/2006/main">
            <a:r>
              <a:t>- C:\Users\DUS\Desktop\project\nettopo-studio\app\lib\topology-store.ts</a:t>
            </a:r>
          </a:p>
          <a:p xmlns:a="http://schemas.openxmlformats.org/drawingml/2006/main">
            <a:r>
              <a:t>- C:\Users\DUS\Desktop\project\nettopo-studio\db\topology-postgres.ts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491e2e02c43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3cef6f36ee4c77" /><Relationship Type="http://schemas.openxmlformats.org/officeDocument/2006/relationships/slideLayout" Target="/ppt/slideLayouts/slideLayout1.xml" Id="Rff6fbea1813041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6fbea1813041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b6da05df94229" /><Relationship Type="http://schemas.openxmlformats.org/officeDocument/2006/relationships/notesSlide" Target="/ppt/notesSlides/notesSlide1.xml" Id="R5d1a5d3577ea4a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ab746a5644625" /><Relationship Type="http://schemas.openxmlformats.org/officeDocument/2006/relationships/notesSlide" Target="/ppt/notesSlides/notesSlide2.xml" Id="R24131d2b76bd4e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e83a0d7db4686" /><Relationship Type="http://schemas.openxmlformats.org/officeDocument/2006/relationships/notesSlide" Target="/ppt/notesSlides/notesSlide3.xml" Id="Rdf5756576a6d4e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8c2095050442d" /><Relationship Type="http://schemas.openxmlformats.org/officeDocument/2006/relationships/notesSlide" Target="/ppt/notesSlides/notesSlide4.xml" Id="R1509dd766da243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2b9a7478349a1" /><Relationship Type="http://schemas.openxmlformats.org/officeDocument/2006/relationships/notesSlide" Target="/ppt/notesSlides/notesSlide5.xml" Id="R33d148c3ea4a49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de5eaa9a341c4" /><Relationship Type="http://schemas.openxmlformats.org/officeDocument/2006/relationships/notesSlide" Target="/ppt/notesSlides/notesSlide6.xml" Id="R9df0fe6f179c42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996a57ebc4d7b" /><Relationship Type="http://schemas.openxmlformats.org/officeDocument/2006/relationships/notesSlide" Target="/ppt/notesSlides/notesSlide7.xml" Id="R512e299b087a4f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cd2501d524e93" /><Relationship Type="http://schemas.openxmlformats.org/officeDocument/2006/relationships/notesSlide" Target="/ppt/notesSlides/notesSlide8.xml" Id="R01ae5bb37ad14c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01c7c02cf4c37" /><Relationship Type="http://schemas.openxmlformats.org/officeDocument/2006/relationships/notesSlide" Target="/ppt/notesSlides/notesSlide9.xml" Id="Rb6415ee25f2747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11133248a458d" /><Relationship Type="http://schemas.openxmlformats.org/officeDocument/2006/relationships/notesSlide" Target="/ppt/notesSlides/notesSlide10.xml" Id="Rfb2d37920dda47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717a50f1242fd" /><Relationship Type="http://schemas.openxmlformats.org/officeDocument/2006/relationships/notesSlide" Target="/ppt/notesSlides/notesSlide11.xml" Id="Re9207c171bc14c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arning-cover-eyebrow">
            <a:extLst xmlns:a="http://schemas.openxmlformats.org/drawingml/2006/main">
              <a:ext uri="{FF2B5EF4-FFF2-40B4-BE49-F238E27FC236}">
                <a16:creationId xmlns:a16="http://schemas.microsoft.com/office/drawing/2014/main" id="{8D477D3B-5E27-4BE2-AA48-06150857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PROJECT-BASED LEARNING</a:t>
            </a:r>
          </a:p>
        </p:txBody>
      </p:sp>
      <p:sp>
        <p:nvSpPr>
          <p:cNvPr id="2" name="learning-cover-meta">
            <a:extLst xmlns:a="http://schemas.openxmlformats.org/drawingml/2006/main">
              <a:ext uri="{FF2B5EF4-FFF2-40B4-BE49-F238E27FC236}">
                <a16:creationId xmlns:a16="http://schemas.microsoft.com/office/drawing/2014/main" id="{E1176827-3810-4025-B2C5-F77B2E37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NETTOPO STUDIO · 2026.08</a:t>
            </a:r>
          </a:p>
        </p:txBody>
      </p:sp>
      <p:sp>
        <p:nvSpPr>
          <p:cNvPr id="3" name="learning-cover-rule">
            <a:extLst xmlns:a="http://schemas.openxmlformats.org/drawingml/2006/main">
              <a:ext uri="{FF2B5EF4-FFF2-40B4-BE49-F238E27FC236}">
                <a16:creationId xmlns:a16="http://schemas.microsoft.com/office/drawing/2014/main" id="{F350E877-C955-47C4-BE6C-1A46E44D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arning-cover-title">
            <a:extLst xmlns:a="http://schemas.openxmlformats.org/drawingml/2006/main">
              <a:ext uri="{FF2B5EF4-FFF2-40B4-BE49-F238E27FC236}">
                <a16:creationId xmlns:a16="http://schemas.microsoft.com/office/drawing/2014/main" id="{982241E1-B410-4E31-9F8E-27727FBF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1009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NetTopo Studio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學習內容地圖</a:t>
            </a:r>
          </a:p>
        </p:txBody>
      </p:sp>
      <p:sp>
        <p:nvSpPr>
          <p:cNvPr id="5" name="learning-cover-subtitle">
            <a:extLst xmlns:a="http://schemas.openxmlformats.org/drawingml/2006/main">
              <a:ext uri="{FF2B5EF4-FFF2-40B4-BE49-F238E27FC236}">
                <a16:creationId xmlns:a16="http://schemas.microsoft.com/office/drawing/2014/main" id="{FF981C0D-2051-4757-A9F4-A19DA5BA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從語言地基、資料流與拓樸模型，一路走到 PostgreSQL、權限與內網部署。</a:t>
            </a:r>
          </a:p>
        </p:txBody>
      </p:sp>
    </p:spTree>
    <p:extLst>
      <p:ext uri="{BB962C8B-B14F-4D97-AF65-F5344CB8AC3E}">
        <p14:creationId xmlns:p14="http://schemas.microsoft.com/office/powerpoint/2010/main" val="1632939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2">
            <a:extLst xmlns:a="http://schemas.openxmlformats.org/drawingml/2006/main">
              <a:ext uri="{FF2B5EF4-FFF2-40B4-BE49-F238E27FC236}">
                <a16:creationId xmlns:a16="http://schemas.microsoft.com/office/drawing/2014/main" id="{E10309F5-2332-4732-8809-28EE3DCB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先看全貌：這不是一個套件，而是三個執行層</a:t>
            </a:r>
          </a:p>
        </p:txBody>
      </p:sp>
      <p:sp>
        <p:nvSpPr>
          <p:cNvPr id="2" name="title-accent-2">
            <a:extLst xmlns:a="http://schemas.openxmlformats.org/drawingml/2006/main">
              <a:ext uri="{FF2B5EF4-FFF2-40B4-BE49-F238E27FC236}">
                <a16:creationId xmlns:a16="http://schemas.microsoft.com/office/drawing/2014/main" id="{B59CD4B7-7DA6-43F9-9618-19EEB644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2">
            <a:extLst xmlns:a="http://schemas.openxmlformats.org/drawingml/2006/main">
              <a:ext uri="{FF2B5EF4-FFF2-40B4-BE49-F238E27FC236}">
                <a16:creationId xmlns:a16="http://schemas.microsoft.com/office/drawing/2014/main" id="{BC807447-85C7-419F-BE3B-DB10AF5B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LEARNING MAP</a:t>
            </a:r>
          </a:p>
        </p:txBody>
      </p:sp>
      <p:sp>
        <p:nvSpPr>
          <p:cNvPr id="4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F6888237-F529-4232-9C67-C8C94646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5" name="three-col-index-2-0">
            <a:extLst xmlns:a="http://schemas.openxmlformats.org/drawingml/2006/main">
              <a:ext uri="{FF2B5EF4-FFF2-40B4-BE49-F238E27FC236}">
                <a16:creationId xmlns:a16="http://schemas.microsoft.com/office/drawing/2014/main" id="{3E95CB95-2DFF-40E8-8672-A0AA2F15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three-col-title-2-0">
            <a:extLst xmlns:a="http://schemas.openxmlformats.org/drawingml/2006/main">
              <a:ext uri="{FF2B5EF4-FFF2-40B4-BE49-F238E27FC236}">
                <a16:creationId xmlns:a16="http://schemas.microsoft.com/office/drawing/2014/main" id="{3881F13C-1F72-446D-A154-C8617002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328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瀏覽器端</a:t>
            </a:r>
          </a:p>
        </p:txBody>
      </p:sp>
      <p:sp>
        <p:nvSpPr>
          <p:cNvPr id="7" name="three-col-body-2-0">
            <a:extLst xmlns:a="http://schemas.openxmlformats.org/drawingml/2006/main">
              <a:ext uri="{FF2B5EF4-FFF2-40B4-BE49-F238E27FC236}">
                <a16:creationId xmlns:a16="http://schemas.microsoft.com/office/drawing/2014/main" id="{0ABC3C22-4B63-4F71-892D-E6248642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32861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React 產生畫面；React Flow 呈現節點與線；Zustand 管理目前狀態；Dexie 操作 IndexedDB。</a:t>
            </a:r>
          </a:p>
        </p:txBody>
      </p:sp>
      <p:sp>
        <p:nvSpPr>
          <p:cNvPr id="8" name="three-col-v-2-1">
            <a:extLst xmlns:a="http://schemas.openxmlformats.org/drawingml/2006/main">
              <a:ext uri="{FF2B5EF4-FFF2-40B4-BE49-F238E27FC236}">
                <a16:creationId xmlns:a16="http://schemas.microsoft.com/office/drawing/2014/main" id="{A1275A96-9162-47F5-8705-67398899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hree-col-index-2-1">
            <a:extLst xmlns:a="http://schemas.openxmlformats.org/drawingml/2006/main">
              <a:ext uri="{FF2B5EF4-FFF2-40B4-BE49-F238E27FC236}">
                <a16:creationId xmlns:a16="http://schemas.microsoft.com/office/drawing/2014/main" id="{3A4E7FD8-9660-4121-87E0-962BFD38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4787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three-col-title-2-1">
            <a:extLst xmlns:a="http://schemas.openxmlformats.org/drawingml/2006/main">
              <a:ext uri="{FF2B5EF4-FFF2-40B4-BE49-F238E27FC236}">
                <a16:creationId xmlns:a16="http://schemas.microsoft.com/office/drawing/2014/main" id="{4BBE4250-7CF7-4D4D-8918-B9086021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14625"/>
            <a:ext cx="328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Node.js 端</a:t>
            </a:r>
          </a:p>
        </p:txBody>
      </p:sp>
      <p:sp>
        <p:nvSpPr>
          <p:cNvPr id="11" name="three-col-body-2-1">
            <a:extLst xmlns:a="http://schemas.openxmlformats.org/drawingml/2006/main">
              <a:ext uri="{FF2B5EF4-FFF2-40B4-BE49-F238E27FC236}">
                <a16:creationId xmlns:a16="http://schemas.microsoft.com/office/drawing/2014/main" id="{C473714F-0C00-4FF8-A7B4-8D8C099F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71875"/>
            <a:ext cx="32861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Next.js API route 接收請求、驗證動作與使用者，透過 postgres driver 存取資料庫。</a:t>
            </a:r>
          </a:p>
        </p:txBody>
      </p:sp>
      <p:sp>
        <p:nvSpPr>
          <p:cNvPr id="12" name="three-col-v-2-2">
            <a:extLst xmlns:a="http://schemas.openxmlformats.org/drawingml/2006/main">
              <a:ext uri="{FF2B5EF4-FFF2-40B4-BE49-F238E27FC236}">
                <a16:creationId xmlns:a16="http://schemas.microsoft.com/office/drawing/2014/main" id="{257ED791-CAD3-421A-95F0-6BDBC1C5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hree-col-index-2-2">
            <a:extLst xmlns:a="http://schemas.openxmlformats.org/drawingml/2006/main">
              <a:ext uri="{FF2B5EF4-FFF2-40B4-BE49-F238E27FC236}">
                <a16:creationId xmlns:a16="http://schemas.microsoft.com/office/drawing/2014/main" id="{4AF6714A-A49E-448A-92E0-DC4671D0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4787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hree-col-title-2-2">
            <a:extLst xmlns:a="http://schemas.openxmlformats.org/drawingml/2006/main">
              <a:ext uri="{FF2B5EF4-FFF2-40B4-BE49-F238E27FC236}">
                <a16:creationId xmlns:a16="http://schemas.microsoft.com/office/drawing/2014/main" id="{08188ABD-1902-449D-919D-5E62A910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14625"/>
            <a:ext cx="328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資料庫端</a:t>
            </a:r>
          </a:p>
        </p:txBody>
      </p:sp>
      <p:sp>
        <p:nvSpPr>
          <p:cNvPr id="15" name="three-col-body-2-2">
            <a:extLst xmlns:a="http://schemas.openxmlformats.org/drawingml/2006/main">
              <a:ext uri="{FF2B5EF4-FFF2-40B4-BE49-F238E27FC236}">
                <a16:creationId xmlns:a16="http://schemas.microsoft.com/office/drawing/2014/main" id="{53BD62A8-63D9-4664-A43A-DAFC799D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71875"/>
            <a:ext cx="32861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IndexedDB 支援單機；PostgreSQL 支援共享、權限、歷史版本、稽核與正式部署。</a:t>
            </a:r>
          </a:p>
        </p:txBody>
      </p:sp>
    </p:spTree>
    <p:extLst>
      <p:ext uri="{BB962C8B-B14F-4D97-AF65-F5344CB8AC3E}">
        <p14:creationId xmlns:p14="http://schemas.microsoft.com/office/powerpoint/2010/main" val="1888865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3">
            <a:extLst xmlns:a="http://schemas.openxmlformats.org/drawingml/2006/main">
              <a:ext uri="{FF2B5EF4-FFF2-40B4-BE49-F238E27FC236}">
                <a16:creationId xmlns:a16="http://schemas.microsoft.com/office/drawing/2014/main" id="{11C96B80-724F-4291-AFA9-B7A236B8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建議依三段主線學，不必一次吞下整個生態系</a:t>
            </a:r>
          </a:p>
        </p:txBody>
      </p:sp>
      <p:sp>
        <p:nvSpPr>
          <p:cNvPr id="2" name="title-accent-3">
            <a:extLst xmlns:a="http://schemas.openxmlformats.org/drawingml/2006/main">
              <a:ext uri="{FF2B5EF4-FFF2-40B4-BE49-F238E27FC236}">
                <a16:creationId xmlns:a16="http://schemas.microsoft.com/office/drawing/2014/main" id="{0D216A6A-7946-45E2-AE9F-B9DB8452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3">
            <a:extLst xmlns:a="http://schemas.openxmlformats.org/drawingml/2006/main">
              <a:ext uri="{FF2B5EF4-FFF2-40B4-BE49-F238E27FC236}">
                <a16:creationId xmlns:a16="http://schemas.microsoft.com/office/drawing/2014/main" id="{75EC9720-7A61-4DD5-9105-844BF46B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LEARNING MAP</a:t>
            </a:r>
          </a:p>
        </p:txBody>
      </p:sp>
      <p:sp>
        <p:nvSpPr>
          <p:cNvPr id="4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4ADC71A8-DD0F-47B2-A11A-B1883721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" name="timeline-line-3">
            <a:extLst xmlns:a="http://schemas.openxmlformats.org/drawingml/2006/main">
              <a:ext uri="{FF2B5EF4-FFF2-40B4-BE49-F238E27FC236}">
                <a16:creationId xmlns:a16="http://schemas.microsoft.com/office/drawing/2014/main" id="{AE86AB7C-B3C9-4D76-9AB6-F6023D92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9087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dot-3-0">
            <a:extLst xmlns:a="http://schemas.openxmlformats.org/drawingml/2006/main">
              <a:ext uri="{FF2B5EF4-FFF2-40B4-BE49-F238E27FC236}">
                <a16:creationId xmlns:a16="http://schemas.microsoft.com/office/drawing/2014/main" id="{308EE195-D484-49CE-8156-02B59846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133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label-3-0">
            <a:extLst xmlns:a="http://schemas.openxmlformats.org/drawingml/2006/main">
              <a:ext uri="{FF2B5EF4-FFF2-40B4-BE49-F238E27FC236}">
                <a16:creationId xmlns:a16="http://schemas.microsoft.com/office/drawing/2014/main" id="{A7D665DB-45AD-4EEC-A241-448F18E6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FOUNDATION</a:t>
            </a:r>
          </a:p>
        </p:txBody>
      </p:sp>
      <p:sp>
        <p:nvSpPr>
          <p:cNvPr id="8" name="timeline-stage-3-0">
            <a:extLst xmlns:a="http://schemas.openxmlformats.org/drawingml/2006/main">
              <a:ext uri="{FF2B5EF4-FFF2-40B4-BE49-F238E27FC236}">
                <a16:creationId xmlns:a16="http://schemas.microsoft.com/office/drawing/2014/main" id="{D0F5EA71-B4E0-49E8-BECC-62331351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147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寫得懂</a:t>
            </a:r>
          </a:p>
        </p:txBody>
      </p:sp>
      <p:sp>
        <p:nvSpPr>
          <p:cNvPr id="9" name="timeline-body-3-0">
            <a:extLst xmlns:a="http://schemas.openxmlformats.org/drawingml/2006/main">
              <a:ext uri="{FF2B5EF4-FFF2-40B4-BE49-F238E27FC236}">
                <a16:creationId xmlns:a16="http://schemas.microsoft.com/office/drawing/2014/main" id="{061DDDE4-D55D-42EF-9360-0E870294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291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JavaScript／TypeScript</a:t>
            </a:r>
          </a:p>
          <a:p xmlns:a="http://schemas.openxmlformats.org/drawingml/2006/main">
            <a:pPr algn="ctr">
              <a:def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React component、props、state</a:t>
            </a:r>
          </a:p>
          <a:p xmlns:a="http://schemas.openxmlformats.org/drawingml/2006/main">
            <a:pPr algn="ctr">
              <a:def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async／await 與模組</a:t>
            </a:r>
          </a:p>
        </p:txBody>
      </p:sp>
      <p:sp>
        <p:nvSpPr>
          <p:cNvPr id="10" name="timeline-dot-3-1">
            <a:extLst xmlns:a="http://schemas.openxmlformats.org/drawingml/2006/main">
              <a:ext uri="{FF2B5EF4-FFF2-40B4-BE49-F238E27FC236}">
                <a16:creationId xmlns:a16="http://schemas.microsoft.com/office/drawing/2014/main" id="{39CD5FF9-1472-477C-BE25-A5319A37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33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meline-label-3-1">
            <a:extLst xmlns:a="http://schemas.openxmlformats.org/drawingml/2006/main">
              <a:ext uri="{FF2B5EF4-FFF2-40B4-BE49-F238E27FC236}">
                <a16:creationId xmlns:a16="http://schemas.microsoft.com/office/drawing/2014/main" id="{D4042767-6B28-458D-AC6C-5EF6DA82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SYSTEM</a:t>
            </a:r>
          </a:p>
        </p:txBody>
      </p:sp>
      <p:sp>
        <p:nvSpPr>
          <p:cNvPr id="12" name="timeline-stage-3-1">
            <a:extLst xmlns:a="http://schemas.openxmlformats.org/drawingml/2006/main">
              <a:ext uri="{FF2B5EF4-FFF2-40B4-BE49-F238E27FC236}">
                <a16:creationId xmlns:a16="http://schemas.microsoft.com/office/drawing/2014/main" id="{2CD08884-314F-4C26-974F-183BE748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看得懂</a:t>
            </a:r>
          </a:p>
        </p:txBody>
      </p:sp>
      <p:sp>
        <p:nvSpPr>
          <p:cNvPr id="13" name="timeline-body-3-1">
            <a:extLst xmlns:a="http://schemas.openxmlformats.org/drawingml/2006/main">
              <a:ext uri="{FF2B5EF4-FFF2-40B4-BE49-F238E27FC236}">
                <a16:creationId xmlns:a16="http://schemas.microsoft.com/office/drawing/2014/main" id="{26082DC1-0F52-4182-BB7A-B39C3AA1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291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Project 資料模型</a:t>
            </a:r>
          </a:p>
          <a:p xmlns:a="http://schemas.openxmlformats.org/drawingml/2006/main">
            <a:pPr algn="ctr">
              <a:def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Zustand 資料流</a:t>
            </a:r>
          </a:p>
          <a:p xmlns:a="http://schemas.openxmlformats.org/drawingml/2006/main">
            <a:pPr algn="ctr">
              <a:def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IndexedDB／API／PostgreSQL</a:t>
            </a:r>
          </a:p>
        </p:txBody>
      </p:sp>
      <p:sp>
        <p:nvSpPr>
          <p:cNvPr id="14" name="timeline-dot-3-2">
            <a:extLst xmlns:a="http://schemas.openxmlformats.org/drawingml/2006/main">
              <a:ext uri="{FF2B5EF4-FFF2-40B4-BE49-F238E27FC236}">
                <a16:creationId xmlns:a16="http://schemas.microsoft.com/office/drawing/2014/main" id="{A36FF12C-420B-4BF8-A061-843946FD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133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line-label-3-2">
            <a:extLst xmlns:a="http://schemas.openxmlformats.org/drawingml/2006/main">
              <a:ext uri="{FF2B5EF4-FFF2-40B4-BE49-F238E27FC236}">
                <a16:creationId xmlns:a16="http://schemas.microsoft.com/office/drawing/2014/main" id="{C2567384-1B3E-4629-A828-971E8679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479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PRODUCT</a:t>
            </a:r>
          </a:p>
        </p:txBody>
      </p:sp>
      <p:sp>
        <p:nvSpPr>
          <p:cNvPr id="16" name="timeline-stage-3-2">
            <a:extLst xmlns:a="http://schemas.openxmlformats.org/drawingml/2006/main">
              <a:ext uri="{FF2B5EF4-FFF2-40B4-BE49-F238E27FC236}">
                <a16:creationId xmlns:a16="http://schemas.microsoft.com/office/drawing/2014/main" id="{F9DCAAB8-1EAB-416A-ADAA-C88E355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做得穩</a:t>
            </a:r>
          </a:p>
        </p:txBody>
      </p:sp>
      <p:sp>
        <p:nvSpPr>
          <p:cNvPr id="17" name="timeline-body-3-2">
            <a:extLst xmlns:a="http://schemas.openxmlformats.org/drawingml/2006/main">
              <a:ext uri="{FF2B5EF4-FFF2-40B4-BE49-F238E27FC236}">
                <a16:creationId xmlns:a16="http://schemas.microsoft.com/office/drawing/2014/main" id="{505BD008-0C7E-46A9-9581-03279303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291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驗證、RBAC、機密資料</a:t>
            </a:r>
          </a:p>
          <a:p xmlns:a="http://schemas.openxmlformats.org/drawingml/2006/main">
            <a:pPr algn="ctr">
              <a:def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版本、備份、部署</a:t>
            </a:r>
          </a:p>
          <a:p xmlns:a="http://schemas.openxmlformats.org/drawingml/2006/main">
            <a:pPr algn="ctr">
              <a:def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測試與維運</a:t>
            </a:r>
          </a:p>
        </p:txBody>
      </p:sp>
    </p:spTree>
    <p:extLst>
      <p:ext uri="{BB962C8B-B14F-4D97-AF65-F5344CB8AC3E}">
        <p14:creationId xmlns:p14="http://schemas.microsoft.com/office/powerpoint/2010/main" val="452326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4">
            <a:extLst xmlns:a="http://schemas.openxmlformats.org/drawingml/2006/main">
              <a:ext uri="{FF2B5EF4-FFF2-40B4-BE49-F238E27FC236}">
                <a16:creationId xmlns:a16="http://schemas.microsoft.com/office/drawing/2014/main" id="{E815139D-3854-44FE-9959-C02BBCB2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第一關不是背語法，而是掌握畫面如何被資料驅動</a:t>
            </a:r>
          </a:p>
        </p:txBody>
      </p:sp>
      <p:sp>
        <p:nvSpPr>
          <p:cNvPr id="2" name="title-accent-4">
            <a:extLst xmlns:a="http://schemas.openxmlformats.org/drawingml/2006/main">
              <a:ext uri="{FF2B5EF4-FFF2-40B4-BE49-F238E27FC236}">
                <a16:creationId xmlns:a16="http://schemas.microsoft.com/office/drawing/2014/main" id="{FFF42DCD-28CF-4AF5-853C-08149867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4">
            <a:extLst xmlns:a="http://schemas.openxmlformats.org/drawingml/2006/main">
              <a:ext uri="{FF2B5EF4-FFF2-40B4-BE49-F238E27FC236}">
                <a16:creationId xmlns:a16="http://schemas.microsoft.com/office/drawing/2014/main" id="{EB894A46-F838-402E-A4D6-2FF645E0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LEARNING MAP</a:t>
            </a:r>
          </a:p>
        </p:txBody>
      </p:sp>
      <p:sp>
        <p:nvSpPr>
          <p:cNvPr id="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B5566273-1E48-4617-8BCF-927F854D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5" name="quad-rule-4-0">
            <a:extLst xmlns:a="http://schemas.openxmlformats.org/drawingml/2006/main">
              <a:ext uri="{FF2B5EF4-FFF2-40B4-BE49-F238E27FC236}">
                <a16:creationId xmlns:a16="http://schemas.microsoft.com/office/drawing/2014/main" id="{2694D2C2-C1EF-49BE-9372-BE8431BA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quad-heading-4-0">
            <a:extLst xmlns:a="http://schemas.openxmlformats.org/drawingml/2006/main">
              <a:ext uri="{FF2B5EF4-FFF2-40B4-BE49-F238E27FC236}">
                <a16:creationId xmlns:a16="http://schemas.microsoft.com/office/drawing/2014/main" id="{44EEB222-FB15-418C-B645-BCB72F14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81225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TypeScript</a:t>
            </a:r>
          </a:p>
        </p:txBody>
      </p:sp>
      <p:sp>
        <p:nvSpPr>
          <p:cNvPr id="7" name="quad-body-4-0">
            <a:extLst xmlns:a="http://schemas.openxmlformats.org/drawingml/2006/main">
              <a:ext uri="{FF2B5EF4-FFF2-40B4-BE49-F238E27FC236}">
                <a16:creationId xmlns:a16="http://schemas.microsoft.com/office/drawing/2014/main" id="{84A9E676-A1D4-47F7-BEC6-7C4FE0D0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71775"/>
            <a:ext cx="531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type／interface、object／array、import／export，先能讀懂 Device、Link、Project。</a:t>
            </a:r>
          </a:p>
        </p:txBody>
      </p:sp>
      <p:sp>
        <p:nvSpPr>
          <p:cNvPr id="8" name="quad-rule-4-1">
            <a:extLst xmlns:a="http://schemas.openxmlformats.org/drawingml/2006/main">
              <a:ext uri="{FF2B5EF4-FFF2-40B4-BE49-F238E27FC236}">
                <a16:creationId xmlns:a16="http://schemas.microsoft.com/office/drawing/2014/main" id="{8FD39CED-AC43-4618-9EDB-6162043C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uad-heading-4-1">
            <a:extLst xmlns:a="http://schemas.openxmlformats.org/drawingml/2006/main">
              <a:ext uri="{FF2B5EF4-FFF2-40B4-BE49-F238E27FC236}">
                <a16:creationId xmlns:a16="http://schemas.microsoft.com/office/drawing/2014/main" id="{7F245B2D-CE14-422D-BFF4-3FD2994B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React</a:t>
            </a:r>
          </a:p>
        </p:txBody>
      </p:sp>
      <p:sp>
        <p:nvSpPr>
          <p:cNvPr id="10" name="quad-body-4-1">
            <a:extLst xmlns:a="http://schemas.openxmlformats.org/drawingml/2006/main">
              <a:ext uri="{FF2B5EF4-FFF2-40B4-BE49-F238E27FC236}">
                <a16:creationId xmlns:a16="http://schemas.microsoft.com/office/drawing/2014/main" id="{E5D22478-2C6F-4257-8CC4-672FCACE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531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component、props、state、render；知道一次操作為何會觸發畫面更新。</a:t>
            </a:r>
          </a:p>
        </p:txBody>
      </p:sp>
      <p:sp>
        <p:nvSpPr>
          <p:cNvPr id="11" name="quad-rule-4-2">
            <a:extLst xmlns:a="http://schemas.openxmlformats.org/drawingml/2006/main">
              <a:ext uri="{FF2B5EF4-FFF2-40B4-BE49-F238E27FC236}">
                <a16:creationId xmlns:a16="http://schemas.microsoft.com/office/drawing/2014/main" id="{F82018B4-5F02-46A2-80F8-396E7FC5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quad-heading-4-2">
            <a:extLst xmlns:a="http://schemas.openxmlformats.org/drawingml/2006/main">
              <a:ext uri="{FF2B5EF4-FFF2-40B4-BE49-F238E27FC236}">
                <a16:creationId xmlns:a16="http://schemas.microsoft.com/office/drawing/2014/main" id="{A2248D1F-BE5A-43AD-9C71-2FCD1C01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非同步</a:t>
            </a:r>
          </a:p>
        </p:txBody>
      </p:sp>
      <p:sp>
        <p:nvSpPr>
          <p:cNvPr id="13" name="quad-body-4-2">
            <a:extLst xmlns:a="http://schemas.openxmlformats.org/drawingml/2006/main">
              <a:ext uri="{FF2B5EF4-FFF2-40B4-BE49-F238E27FC236}">
                <a16:creationId xmlns:a16="http://schemas.microsoft.com/office/drawing/2014/main" id="{58695354-A9EF-4406-9961-5B18E055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531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Promise、async／await、fetch；理解儲存與 API 回應不是立即完成。</a:t>
            </a:r>
          </a:p>
        </p:txBody>
      </p:sp>
      <p:sp>
        <p:nvSpPr>
          <p:cNvPr id="14" name="quad-rule-4-3">
            <a:extLst xmlns:a="http://schemas.openxmlformats.org/drawingml/2006/main">
              <a:ext uri="{FF2B5EF4-FFF2-40B4-BE49-F238E27FC236}">
                <a16:creationId xmlns:a16="http://schemas.microsoft.com/office/drawing/2014/main" id="{EDE59473-82DB-4853-AD9B-08AAAE31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quad-heading-4-3">
            <a:extLst xmlns:a="http://schemas.openxmlformats.org/drawingml/2006/main">
              <a:ext uri="{FF2B5EF4-FFF2-40B4-BE49-F238E27FC236}">
                <a16:creationId xmlns:a16="http://schemas.microsoft.com/office/drawing/2014/main" id="{FA3615BE-120F-4E5D-9525-38233DDF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狀態邊界</a:t>
            </a:r>
          </a:p>
        </p:txBody>
      </p:sp>
      <p:sp>
        <p:nvSpPr>
          <p:cNvPr id="16" name="quad-body-4-3">
            <a:extLst xmlns:a="http://schemas.openxmlformats.org/drawingml/2006/main">
              <a:ext uri="{FF2B5EF4-FFF2-40B4-BE49-F238E27FC236}">
                <a16:creationId xmlns:a16="http://schemas.microsoft.com/office/drawing/2014/main" id="{F7969EA1-6FCC-4951-9FD6-5E583971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531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UI 暫態、全域 store、永久資料要分層；Zustand 不能取代資料庫。</a:t>
            </a:r>
          </a:p>
        </p:txBody>
      </p:sp>
    </p:spTree>
    <p:extLst>
      <p:ext uri="{BB962C8B-B14F-4D97-AF65-F5344CB8AC3E}">
        <p14:creationId xmlns:p14="http://schemas.microsoft.com/office/powerpoint/2010/main" val="265515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-5">
            <a:extLst xmlns:a="http://schemas.openxmlformats.org/drawingml/2006/main">
              <a:ext uri="{FF2B5EF4-FFF2-40B4-BE49-F238E27FC236}">
                <a16:creationId xmlns:a16="http://schemas.microsoft.com/office/drawing/2014/main" id="{8771074A-918F-4480-B8DE-65BA88C9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最值得先看懂的，是一次操作如何走完整條資料流</a:t>
            </a:r>
          </a:p>
        </p:txBody>
      </p:sp>
      <p:sp>
        <p:nvSpPr>
          <p:cNvPr id="2" name="title-accent-5">
            <a:extLst xmlns:a="http://schemas.openxmlformats.org/drawingml/2006/main">
              <a:ext uri="{FF2B5EF4-FFF2-40B4-BE49-F238E27FC236}">
                <a16:creationId xmlns:a16="http://schemas.microsoft.com/office/drawing/2014/main" id="{F2E0C854-7CCC-4355-9919-8CC86BE5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5">
            <a:extLst xmlns:a="http://schemas.openxmlformats.org/drawingml/2006/main">
              <a:ext uri="{FF2B5EF4-FFF2-40B4-BE49-F238E27FC236}">
                <a16:creationId xmlns:a16="http://schemas.microsoft.com/office/drawing/2014/main" id="{25B0C69D-DF98-4396-8CEB-1F9D170F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LEARNING MAP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32006084-C63F-489D-AB98-14FF992A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5" name="flow-arrow-5-0">
            <a:extLst xmlns:a="http://schemas.openxmlformats.org/drawingml/2006/main">
              <a:ext uri="{FF2B5EF4-FFF2-40B4-BE49-F238E27FC236}">
                <a16:creationId xmlns:a16="http://schemas.microsoft.com/office/drawing/2014/main" id="{957972CA-ACF0-4447-8AF3-D1766C6B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550" y="3219450"/>
            <a:ext cx="1143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-5-1">
            <a:extLst xmlns:a="http://schemas.openxmlformats.org/drawingml/2006/main">
              <a:ext uri="{FF2B5EF4-FFF2-40B4-BE49-F238E27FC236}">
                <a16:creationId xmlns:a16="http://schemas.microsoft.com/office/drawing/2014/main" id="{F7A9591C-D0B2-4EF0-A760-6974F398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725" y="3219450"/>
            <a:ext cx="1143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arrow-5-2">
            <a:extLst xmlns:a="http://schemas.openxmlformats.org/drawingml/2006/main">
              <a:ext uri="{FF2B5EF4-FFF2-40B4-BE49-F238E27FC236}">
                <a16:creationId xmlns:a16="http://schemas.microsoft.com/office/drawing/2014/main" id="{F8868A8C-8992-4BC9-9A50-321860CE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1143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arrow-5-3">
            <a:extLst xmlns:a="http://schemas.openxmlformats.org/drawingml/2006/main">
              <a:ext uri="{FF2B5EF4-FFF2-40B4-BE49-F238E27FC236}">
                <a16:creationId xmlns:a16="http://schemas.microsoft.com/office/drawing/2014/main" id="{526D652E-C133-4AA7-A6F0-007FAFD6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75" y="3219450"/>
            <a:ext cx="1143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arrow-5-4">
            <a:extLst xmlns:a="http://schemas.openxmlformats.org/drawingml/2006/main">
              <a:ext uri="{FF2B5EF4-FFF2-40B4-BE49-F238E27FC236}">
                <a16:creationId xmlns:a16="http://schemas.microsoft.com/office/drawing/2014/main" id="{9CA8DAFB-7F4A-499D-8911-F57464F3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3219450"/>
            <a:ext cx="1143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number-5-0">
            <a:extLst xmlns:a="http://schemas.openxmlformats.org/drawingml/2006/main">
              <a:ext uri="{FF2B5EF4-FFF2-40B4-BE49-F238E27FC236}">
                <a16:creationId xmlns:a16="http://schemas.microsoft.com/office/drawing/2014/main" id="{FAB92036-73C1-4747-8AC8-35E3871B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77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1" name="flow-node-rule-5-0">
            <a:extLst xmlns:a="http://schemas.openxmlformats.org/drawingml/2006/main">
              <a:ext uri="{FF2B5EF4-FFF2-40B4-BE49-F238E27FC236}">
                <a16:creationId xmlns:a16="http://schemas.microsoft.com/office/drawing/2014/main" id="{02A5D63D-739A-4B5E-82D1-C16357F7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71800"/>
            <a:ext cx="148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heading-5-0">
            <a:extLst xmlns:a="http://schemas.openxmlformats.org/drawingml/2006/main">
              <a:ext uri="{FF2B5EF4-FFF2-40B4-BE49-F238E27FC236}">
                <a16:creationId xmlns:a16="http://schemas.microsoft.com/office/drawing/2014/main" id="{A4F96A5C-2D9D-40C1-90D0-3C184CE1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169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操作 UI</a:t>
            </a:r>
          </a:p>
        </p:txBody>
      </p:sp>
      <p:sp>
        <p:nvSpPr>
          <p:cNvPr id="13" name="flow-body-5-0">
            <a:extLst xmlns:a="http://schemas.openxmlformats.org/drawingml/2006/main">
              <a:ext uri="{FF2B5EF4-FFF2-40B4-BE49-F238E27FC236}">
                <a16:creationId xmlns:a16="http://schemas.microsoft.com/office/drawing/2014/main" id="{F63E3A38-25A9-4BD3-81C6-DBCBDB6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69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新增、移動、編輯</a:t>
            </a:r>
          </a:p>
        </p:txBody>
      </p:sp>
      <p:sp>
        <p:nvSpPr>
          <p:cNvPr id="14" name="flow-number-5-1">
            <a:extLst xmlns:a="http://schemas.openxmlformats.org/drawingml/2006/main">
              <a:ext uri="{FF2B5EF4-FFF2-40B4-BE49-F238E27FC236}">
                <a16:creationId xmlns:a16="http://schemas.microsoft.com/office/drawing/2014/main" id="{DF50BD3D-DE4C-4735-9B6E-8454804D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2476500"/>
            <a:ext cx="177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flow-node-rule-5-1">
            <a:extLst xmlns:a="http://schemas.openxmlformats.org/drawingml/2006/main">
              <a:ext uri="{FF2B5EF4-FFF2-40B4-BE49-F238E27FC236}">
                <a16:creationId xmlns:a16="http://schemas.microsoft.com/office/drawing/2014/main" id="{C673CA86-1867-4F85-A6DD-A7FE853E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971800"/>
            <a:ext cx="148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heading-5-1">
            <a:extLst xmlns:a="http://schemas.openxmlformats.org/drawingml/2006/main">
              <a:ext uri="{FF2B5EF4-FFF2-40B4-BE49-F238E27FC236}">
                <a16:creationId xmlns:a16="http://schemas.microsoft.com/office/drawing/2014/main" id="{B7CBFDFC-798C-45F3-A522-B4B86669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3162300"/>
            <a:ext cx="169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Event Handler</a:t>
            </a:r>
          </a:p>
        </p:txBody>
      </p:sp>
      <p:sp>
        <p:nvSpPr>
          <p:cNvPr id="17" name="flow-body-5-1">
            <a:extLst xmlns:a="http://schemas.openxmlformats.org/drawingml/2006/main">
              <a:ext uri="{FF2B5EF4-FFF2-40B4-BE49-F238E27FC236}">
                <a16:creationId xmlns:a16="http://schemas.microsoft.com/office/drawing/2014/main" id="{73FBA094-EA2A-4C7B-AC5B-67389E1C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4000500"/>
            <a:ext cx="169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判斷意圖與輸入</a:t>
            </a:r>
          </a:p>
        </p:txBody>
      </p:sp>
      <p:sp>
        <p:nvSpPr>
          <p:cNvPr id="18" name="flow-number-5-2">
            <a:extLst xmlns:a="http://schemas.openxmlformats.org/drawingml/2006/main">
              <a:ext uri="{FF2B5EF4-FFF2-40B4-BE49-F238E27FC236}">
                <a16:creationId xmlns:a16="http://schemas.microsoft.com/office/drawing/2014/main" id="{DB9762BA-EBE3-4F13-B6FE-0825F994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476500"/>
            <a:ext cx="177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flow-node-rule-5-2">
            <a:extLst xmlns:a="http://schemas.openxmlformats.org/drawingml/2006/main">
              <a:ext uri="{FF2B5EF4-FFF2-40B4-BE49-F238E27FC236}">
                <a16:creationId xmlns:a16="http://schemas.microsoft.com/office/drawing/2014/main" id="{58965A49-63AC-4F46-AB13-D19FD2E3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425" y="2971800"/>
            <a:ext cx="148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heading-5-2">
            <a:extLst xmlns:a="http://schemas.openxmlformats.org/drawingml/2006/main">
              <a:ext uri="{FF2B5EF4-FFF2-40B4-BE49-F238E27FC236}">
                <a16:creationId xmlns:a16="http://schemas.microsoft.com/office/drawing/2014/main" id="{A5E47547-290C-4DCD-9CEC-99C1B559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162300"/>
            <a:ext cx="169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Zustand</a:t>
            </a:r>
          </a:p>
        </p:txBody>
      </p:sp>
      <p:sp>
        <p:nvSpPr>
          <p:cNvPr id="21" name="flow-body-5-2">
            <a:extLst xmlns:a="http://schemas.openxmlformats.org/drawingml/2006/main">
              <a:ext uri="{FF2B5EF4-FFF2-40B4-BE49-F238E27FC236}">
                <a16:creationId xmlns:a16="http://schemas.microsoft.com/office/drawing/2014/main" id="{87EA84C2-01A9-4847-8EDD-BCF5AE2B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000500"/>
            <a:ext cx="169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更新目前 Project</a:t>
            </a:r>
          </a:p>
        </p:txBody>
      </p:sp>
      <p:sp>
        <p:nvSpPr>
          <p:cNvPr id="22" name="flow-number-5-3">
            <a:extLst xmlns:a="http://schemas.openxmlformats.org/drawingml/2006/main">
              <a:ext uri="{FF2B5EF4-FFF2-40B4-BE49-F238E27FC236}">
                <a16:creationId xmlns:a16="http://schemas.microsoft.com/office/drawing/2014/main" id="{53C2F1D9-44B4-475D-BD63-EBF5F97A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177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3" name="flow-node-rule-5-3">
            <a:extLst xmlns:a="http://schemas.openxmlformats.org/drawingml/2006/main">
              <a:ext uri="{FF2B5EF4-FFF2-40B4-BE49-F238E27FC236}">
                <a16:creationId xmlns:a16="http://schemas.microsoft.com/office/drawing/2014/main" id="{EDD712D9-6B7C-4409-B30C-1D67F7FA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148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heading-5-3">
            <a:extLst xmlns:a="http://schemas.openxmlformats.org/drawingml/2006/main">
              <a:ext uri="{FF2B5EF4-FFF2-40B4-BE49-F238E27FC236}">
                <a16:creationId xmlns:a16="http://schemas.microsoft.com/office/drawing/2014/main" id="{574A6E2B-C645-4545-9F37-D415CE06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62300"/>
            <a:ext cx="169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React Flow</a:t>
            </a:r>
          </a:p>
        </p:txBody>
      </p:sp>
      <p:sp>
        <p:nvSpPr>
          <p:cNvPr id="25" name="flow-body-5-3">
            <a:extLst xmlns:a="http://schemas.openxmlformats.org/drawingml/2006/main">
              <a:ext uri="{FF2B5EF4-FFF2-40B4-BE49-F238E27FC236}">
                <a16:creationId xmlns:a16="http://schemas.microsoft.com/office/drawing/2014/main" id="{48A09A72-F697-4550-A587-3439E8EB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00500"/>
            <a:ext cx="169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重畫節點與線</a:t>
            </a:r>
          </a:p>
        </p:txBody>
      </p:sp>
      <p:sp>
        <p:nvSpPr>
          <p:cNvPr id="26" name="flow-number-5-4">
            <a:extLst xmlns:a="http://schemas.openxmlformats.org/drawingml/2006/main">
              <a:ext uri="{FF2B5EF4-FFF2-40B4-BE49-F238E27FC236}">
                <a16:creationId xmlns:a16="http://schemas.microsoft.com/office/drawing/2014/main" id="{057AC3D1-A4C5-40CF-ABE7-EB7B80C5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476500"/>
            <a:ext cx="177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7" name="flow-node-rule-5-4">
            <a:extLst xmlns:a="http://schemas.openxmlformats.org/drawingml/2006/main">
              <a:ext uri="{FF2B5EF4-FFF2-40B4-BE49-F238E27FC236}">
                <a16:creationId xmlns:a16="http://schemas.microsoft.com/office/drawing/2014/main" id="{74E61BF5-B259-4473-98C6-766D8F10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2971800"/>
            <a:ext cx="148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low-heading-5-4">
            <a:extLst xmlns:a="http://schemas.openxmlformats.org/drawingml/2006/main">
              <a:ext uri="{FF2B5EF4-FFF2-40B4-BE49-F238E27FC236}">
                <a16:creationId xmlns:a16="http://schemas.microsoft.com/office/drawing/2014/main" id="{9EECDEFE-5293-400E-B3A2-DE13716D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162300"/>
            <a:ext cx="169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Storage</a:t>
            </a:r>
          </a:p>
        </p:txBody>
      </p:sp>
      <p:sp>
        <p:nvSpPr>
          <p:cNvPr id="29" name="flow-body-5-4">
            <a:extLst xmlns:a="http://schemas.openxmlformats.org/drawingml/2006/main">
              <a:ext uri="{FF2B5EF4-FFF2-40B4-BE49-F238E27FC236}">
                <a16:creationId xmlns:a16="http://schemas.microsoft.com/office/drawing/2014/main" id="{384D6011-0C51-4487-8B0F-C27A1BA6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000500"/>
            <a:ext cx="169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Dexie 或 API 儲存</a:t>
            </a:r>
          </a:p>
        </p:txBody>
      </p:sp>
      <p:sp>
        <p:nvSpPr>
          <p:cNvPr id="30" name="flow-number-5-5">
            <a:extLst xmlns:a="http://schemas.openxmlformats.org/drawingml/2006/main">
              <a:ext uri="{FF2B5EF4-FFF2-40B4-BE49-F238E27FC236}">
                <a16:creationId xmlns:a16="http://schemas.microsoft.com/office/drawing/2014/main" id="{E5A0B381-0502-4996-9F92-C5169D6F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2476500"/>
            <a:ext cx="177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1" name="flow-node-rule-5-5">
            <a:extLst xmlns:a="http://schemas.openxmlformats.org/drawingml/2006/main">
              <a:ext uri="{FF2B5EF4-FFF2-40B4-BE49-F238E27FC236}">
                <a16:creationId xmlns:a16="http://schemas.microsoft.com/office/drawing/2014/main" id="{44B2C3BA-4456-4E5A-9B81-43E4FEB6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950" y="2971800"/>
            <a:ext cx="148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low-heading-5-5">
            <a:extLst xmlns:a="http://schemas.openxmlformats.org/drawingml/2006/main">
              <a:ext uri="{FF2B5EF4-FFF2-40B4-BE49-F238E27FC236}">
                <a16:creationId xmlns:a16="http://schemas.microsoft.com/office/drawing/2014/main" id="{B56313AD-79BC-4FFD-90C6-6A925739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175" y="3162300"/>
            <a:ext cx="169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Persisted</a:t>
            </a:r>
          </a:p>
        </p:txBody>
      </p:sp>
      <p:sp>
        <p:nvSpPr>
          <p:cNvPr id="33" name="flow-body-5-5">
            <a:extLst xmlns:a="http://schemas.openxmlformats.org/drawingml/2006/main">
              <a:ext uri="{FF2B5EF4-FFF2-40B4-BE49-F238E27FC236}">
                <a16:creationId xmlns:a16="http://schemas.microsoft.com/office/drawing/2014/main" id="{01D8DF88-A8FA-41CF-8B30-3813F52C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175" y="4000500"/>
            <a:ext cx="169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IndexedDB／PostgreSQL</a:t>
            </a:r>
          </a:p>
        </p:txBody>
      </p:sp>
      <p:sp>
        <p:nvSpPr>
          <p:cNvPr id="34" name="flow-caption-5">
            <a:extLst xmlns:a="http://schemas.openxmlformats.org/drawingml/2006/main">
              <a:ext uri="{FF2B5EF4-FFF2-40B4-BE49-F238E27FC236}">
                <a16:creationId xmlns:a16="http://schemas.microsoft.com/office/drawing/2014/main" id="{8EFB80E0-9722-4879-9829-0D951115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懂這條線，新增功能、除錯與測試就有共同語言。</a:t>
            </a:r>
          </a:p>
        </p:txBody>
      </p:sp>
    </p:spTree>
    <p:extLst>
      <p:ext uri="{BB962C8B-B14F-4D97-AF65-F5344CB8AC3E}">
        <p14:creationId xmlns:p14="http://schemas.microsoft.com/office/powerpoint/2010/main" val="1274523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6">
            <a:extLst xmlns:a="http://schemas.openxmlformats.org/drawingml/2006/main">
              <a:ext uri="{FF2B5EF4-FFF2-40B4-BE49-F238E27FC236}">
                <a16:creationId xmlns:a16="http://schemas.microsoft.com/office/drawing/2014/main" id="{231A7B33-69B1-4C0A-A110-4AF445DB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資料模型先於套件：Project 是整個系統的共同語言</a:t>
            </a:r>
          </a:p>
        </p:txBody>
      </p:sp>
      <p:sp>
        <p:nvSpPr>
          <p:cNvPr id="2" name="title-accent-6">
            <a:extLst xmlns:a="http://schemas.openxmlformats.org/drawingml/2006/main">
              <a:ext uri="{FF2B5EF4-FFF2-40B4-BE49-F238E27FC236}">
                <a16:creationId xmlns:a16="http://schemas.microsoft.com/office/drawing/2014/main" id="{955AD6A4-A178-4EFA-97DB-7ED3A3AE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6">
            <a:extLst xmlns:a="http://schemas.openxmlformats.org/drawingml/2006/main">
              <a:ext uri="{FF2B5EF4-FFF2-40B4-BE49-F238E27FC236}">
                <a16:creationId xmlns:a16="http://schemas.microsoft.com/office/drawing/2014/main" id="{BAA764E0-4F86-43A6-BDD0-AE6B9E6F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LEARNING MAP</a:t>
            </a:r>
          </a:p>
        </p:txBody>
      </p:sp>
      <p:sp>
        <p:nvSpPr>
          <p:cNvPr id="4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A6CBB47B-A81E-42B8-BB55-058D8D06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" name="hier-arrow-6-0">
            <a:extLst xmlns:a="http://schemas.openxmlformats.org/drawingml/2006/main">
              <a:ext uri="{FF2B5EF4-FFF2-40B4-BE49-F238E27FC236}">
                <a16:creationId xmlns:a16="http://schemas.microsoft.com/office/drawing/2014/main" id="{ECC47363-88C2-489A-8640-DF574E03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05125"/>
            <a:ext cx="3619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ier-arrow-6-1">
            <a:extLst xmlns:a="http://schemas.openxmlformats.org/drawingml/2006/main">
              <a:ext uri="{FF2B5EF4-FFF2-40B4-BE49-F238E27FC236}">
                <a16:creationId xmlns:a16="http://schemas.microsoft.com/office/drawing/2014/main" id="{9D902091-5980-4A58-8BB8-6ED40B9A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905125"/>
            <a:ext cx="3619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ier-arrow-6-2">
            <a:extLst xmlns:a="http://schemas.openxmlformats.org/drawingml/2006/main">
              <a:ext uri="{FF2B5EF4-FFF2-40B4-BE49-F238E27FC236}">
                <a16:creationId xmlns:a16="http://schemas.microsoft.com/office/drawing/2014/main" id="{C85BC814-B3BC-43D2-A172-17A5B58A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05125"/>
            <a:ext cx="3619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ier-box-6-0">
            <a:extLst xmlns:a="http://schemas.openxmlformats.org/drawingml/2006/main">
              <a:ext uri="{FF2B5EF4-FFF2-40B4-BE49-F238E27FC236}">
                <a16:creationId xmlns:a16="http://schemas.microsoft.com/office/drawing/2014/main" id="{1ABEF80A-6B6B-4ED1-8383-5757A072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952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hier-heading-6-0">
            <a:extLst xmlns:a="http://schemas.openxmlformats.org/drawingml/2006/main">
              <a:ext uri="{FF2B5EF4-FFF2-40B4-BE49-F238E27FC236}">
                <a16:creationId xmlns:a16="http://schemas.microsoft.com/office/drawing/2014/main" id="{65B9A1A5-1901-4F48-9555-D42A859E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Customer</a:t>
            </a:r>
          </a:p>
        </p:txBody>
      </p:sp>
      <p:sp>
        <p:nvSpPr>
          <p:cNvPr id="10" name="hier-body-6-0">
            <a:extLst xmlns:a="http://schemas.openxmlformats.org/drawingml/2006/main">
              <a:ext uri="{FF2B5EF4-FFF2-40B4-BE49-F238E27FC236}">
                <a16:creationId xmlns:a16="http://schemas.microsoft.com/office/drawing/2014/main" id="{2A691D79-4773-42CE-B627-612D8956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客戶主檔</a:t>
            </a:r>
          </a:p>
        </p:txBody>
      </p:sp>
      <p:sp>
        <p:nvSpPr>
          <p:cNvPr id="11" name="hier-box-6-1">
            <a:extLst xmlns:a="http://schemas.openxmlformats.org/drawingml/2006/main">
              <a:ext uri="{FF2B5EF4-FFF2-40B4-BE49-F238E27FC236}">
                <a16:creationId xmlns:a16="http://schemas.microsoft.com/office/drawing/2014/main" id="{AD2F1F77-9249-479C-979D-958FF95E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28875"/>
            <a:ext cx="1952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hier-heading-6-1">
            <a:extLst xmlns:a="http://schemas.openxmlformats.org/drawingml/2006/main">
              <a:ext uri="{FF2B5EF4-FFF2-40B4-BE49-F238E27FC236}">
                <a16:creationId xmlns:a16="http://schemas.microsoft.com/office/drawing/2014/main" id="{F94D2936-5A6C-4A8B-9D12-7B094D0A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193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Topology</a:t>
            </a:r>
          </a:p>
        </p:txBody>
      </p:sp>
      <p:sp>
        <p:nvSpPr>
          <p:cNvPr id="13" name="hier-body-6-1">
            <a:extLst xmlns:a="http://schemas.openxmlformats.org/drawingml/2006/main">
              <a:ext uri="{FF2B5EF4-FFF2-40B4-BE49-F238E27FC236}">
                <a16:creationId xmlns:a16="http://schemas.microsoft.com/office/drawing/2014/main" id="{4CFA614C-9996-49BE-8072-DE46BC4E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4325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版本與站點</a:t>
            </a:r>
          </a:p>
        </p:txBody>
      </p:sp>
      <p:sp>
        <p:nvSpPr>
          <p:cNvPr id="14" name="hier-box-6-2">
            <a:extLst xmlns:a="http://schemas.openxmlformats.org/drawingml/2006/main">
              <a:ext uri="{FF2B5EF4-FFF2-40B4-BE49-F238E27FC236}">
                <a16:creationId xmlns:a16="http://schemas.microsoft.com/office/drawing/2014/main" id="{D9822D81-761C-4409-AD5B-1BDCEA3D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1952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hier-heading-6-2">
            <a:extLst xmlns:a="http://schemas.openxmlformats.org/drawingml/2006/main">
              <a:ext uri="{FF2B5EF4-FFF2-40B4-BE49-F238E27FC236}">
                <a16:creationId xmlns:a16="http://schemas.microsoft.com/office/drawing/2014/main" id="{8CFE625F-ACB5-4AA6-AB57-211E0D8B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Project</a:t>
            </a:r>
          </a:p>
        </p:txBody>
      </p:sp>
      <p:sp>
        <p:nvSpPr>
          <p:cNvPr id="16" name="hier-body-6-2">
            <a:extLst xmlns:a="http://schemas.openxmlformats.org/drawingml/2006/main">
              <a:ext uri="{FF2B5EF4-FFF2-40B4-BE49-F238E27FC236}">
                <a16:creationId xmlns:a16="http://schemas.microsoft.com/office/drawing/2014/main" id="{07368E05-C5E9-4146-8E87-D8EE6B7C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完整拓樸狀態</a:t>
            </a:r>
          </a:p>
        </p:txBody>
      </p:sp>
      <p:sp>
        <p:nvSpPr>
          <p:cNvPr id="17" name="hier-leaf-6-0">
            <a:extLst xmlns:a="http://schemas.openxmlformats.org/drawingml/2006/main">
              <a:ext uri="{FF2B5EF4-FFF2-40B4-BE49-F238E27FC236}">
                <a16:creationId xmlns:a16="http://schemas.microsoft.com/office/drawing/2014/main" id="{633CEDCB-F174-4235-A9F5-F7FB0297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428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8" name="hier-leaf-text-6-0">
            <a:extLst xmlns:a="http://schemas.openxmlformats.org/drawingml/2006/main">
              <a:ext uri="{FF2B5EF4-FFF2-40B4-BE49-F238E27FC236}">
                <a16:creationId xmlns:a16="http://schemas.microsoft.com/office/drawing/2014/main" id="{C0DFA94B-1384-4079-A221-FA69943C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0502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Device</a:t>
            </a:r>
          </a:p>
        </p:txBody>
      </p:sp>
      <p:sp>
        <p:nvSpPr>
          <p:cNvPr id="19" name="hier-leaf-6-1">
            <a:extLst xmlns:a="http://schemas.openxmlformats.org/drawingml/2006/main">
              <a:ext uri="{FF2B5EF4-FFF2-40B4-BE49-F238E27FC236}">
                <a16:creationId xmlns:a16="http://schemas.microsoft.com/office/drawing/2014/main" id="{EBB26AEC-2E3E-48A1-B6F1-B5B89991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86075"/>
            <a:ext cx="2428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hier-leaf-text-6-1">
            <a:extLst xmlns:a="http://schemas.openxmlformats.org/drawingml/2006/main">
              <a:ext uri="{FF2B5EF4-FFF2-40B4-BE49-F238E27FC236}">
                <a16:creationId xmlns:a16="http://schemas.microsoft.com/office/drawing/2014/main" id="{C3D36BF6-FF76-4625-BAE3-AD93CA50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3847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Link</a:t>
            </a:r>
          </a:p>
        </p:txBody>
      </p:sp>
      <p:sp>
        <p:nvSpPr>
          <p:cNvPr id="21" name="hier-leaf-6-2">
            <a:extLst xmlns:a="http://schemas.openxmlformats.org/drawingml/2006/main">
              <a:ext uri="{FF2B5EF4-FFF2-40B4-BE49-F238E27FC236}">
                <a16:creationId xmlns:a16="http://schemas.microsoft.com/office/drawing/2014/main" id="{97F2BD49-970A-482D-8BFA-09F20074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9525"/>
            <a:ext cx="2428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hier-leaf-text-6-2">
            <a:extLst xmlns:a="http://schemas.openxmlformats.org/drawingml/2006/main">
              <a:ext uri="{FF2B5EF4-FFF2-40B4-BE49-F238E27FC236}">
                <a16:creationId xmlns:a16="http://schemas.microsoft.com/office/drawing/2014/main" id="{6CD6D2EA-C2F3-4D68-BF1C-30ACCE85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7192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Group</a:t>
            </a:r>
          </a:p>
        </p:txBody>
      </p:sp>
      <p:sp>
        <p:nvSpPr>
          <p:cNvPr id="23" name="hier-callout-6">
            <a:extLst xmlns:a="http://schemas.openxmlformats.org/drawingml/2006/main">
              <a:ext uri="{FF2B5EF4-FFF2-40B4-BE49-F238E27FC236}">
                <a16:creationId xmlns:a16="http://schemas.microsoft.com/office/drawing/2014/main" id="{1D4497DE-3FDC-411F-B9EB-B577251C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733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先學關聯與不變條件：設備 ID、連線端點、群組引用、Port 不重複。</a:t>
            </a:r>
          </a:p>
        </p:txBody>
      </p:sp>
    </p:spTree>
    <p:extLst>
      <p:ext uri="{BB962C8B-B14F-4D97-AF65-F5344CB8AC3E}">
        <p14:creationId xmlns:p14="http://schemas.microsoft.com/office/powerpoint/2010/main" val="5740110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7">
            <a:extLst xmlns:a="http://schemas.openxmlformats.org/drawingml/2006/main">
              <a:ext uri="{FF2B5EF4-FFF2-40B4-BE49-F238E27FC236}">
                <a16:creationId xmlns:a16="http://schemas.microsoft.com/office/drawing/2014/main" id="{53293026-EDB2-49DC-B9A9-7A610A58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雙儲存層的關鍵，是同一組行為、兩種落地方式</a:t>
            </a:r>
          </a:p>
        </p:txBody>
      </p:sp>
      <p:sp>
        <p:nvSpPr>
          <p:cNvPr id="2" name="title-accent-7">
            <a:extLst xmlns:a="http://schemas.openxmlformats.org/drawingml/2006/main">
              <a:ext uri="{FF2B5EF4-FFF2-40B4-BE49-F238E27FC236}">
                <a16:creationId xmlns:a16="http://schemas.microsoft.com/office/drawing/2014/main" id="{C49BD6D1-80C4-47A9-A5A9-929E0506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7">
            <a:extLst xmlns:a="http://schemas.openxmlformats.org/drawingml/2006/main">
              <a:ext uri="{FF2B5EF4-FFF2-40B4-BE49-F238E27FC236}">
                <a16:creationId xmlns:a16="http://schemas.microsoft.com/office/drawing/2014/main" id="{CE711B92-155E-4B8C-A576-BC37DB2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LEARNING MAP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D627F532-2683-41B7-8D37-DEB285EC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5" name="two-v-7">
            <a:extLst xmlns:a="http://schemas.openxmlformats.org/drawingml/2006/main">
              <a:ext uri="{FF2B5EF4-FFF2-40B4-BE49-F238E27FC236}">
                <a16:creationId xmlns:a16="http://schemas.microsoft.com/office/drawing/2014/main" id="{87CB83D4-3342-410C-8707-B6108D24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wo-label-7-0">
            <a:extLst xmlns:a="http://schemas.openxmlformats.org/drawingml/2006/main">
              <a:ext uri="{FF2B5EF4-FFF2-40B4-BE49-F238E27FC236}">
                <a16:creationId xmlns:a16="http://schemas.microsoft.com/office/drawing/2014/main" id="{A3F50FDF-3EE5-44C0-A30A-259DC4F2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LOCAL MODE · indexeddb</a:t>
            </a:r>
          </a:p>
        </p:txBody>
      </p:sp>
      <p:sp>
        <p:nvSpPr>
          <p:cNvPr id="7" name="two-heading-7-0">
            <a:extLst xmlns:a="http://schemas.openxmlformats.org/drawingml/2006/main">
              <a:ext uri="{FF2B5EF4-FFF2-40B4-BE49-F238E27FC236}">
                <a16:creationId xmlns:a16="http://schemas.microsoft.com/office/drawing/2014/main" id="{C88839C1-BB69-4FB9-9E1C-05B7D7FE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412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先把單機工具做順</a:t>
            </a:r>
          </a:p>
        </p:txBody>
      </p:sp>
      <p:sp>
        <p:nvSpPr>
          <p:cNvPr id="8" name="two-body-7-0">
            <a:extLst xmlns:a="http://schemas.openxmlformats.org/drawingml/2006/main">
              <a:ext uri="{FF2B5EF4-FFF2-40B4-BE49-F238E27FC236}">
                <a16:creationId xmlns:a16="http://schemas.microsoft.com/office/drawing/2014/main" id="{9ED07055-7E9B-4E90-92FB-66A8D44D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Dexie 管理 customers、topologies、meta。</a:t>
            </a:r>
          </a:p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適合個人、離線與原型；不提供跨人共享、集中備份或正式權限。</a:t>
            </a:r>
          </a:p>
        </p:txBody>
      </p:sp>
      <p:sp>
        <p:nvSpPr>
          <p:cNvPr id="9" name="two-label-7-1">
            <a:extLst xmlns:a="http://schemas.openxmlformats.org/drawingml/2006/main">
              <a:ext uri="{FF2B5EF4-FFF2-40B4-BE49-F238E27FC236}">
                <a16:creationId xmlns:a16="http://schemas.microsoft.com/office/drawing/2014/main" id="{5ECB5B2F-147A-40F3-AFE0-787E2725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526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SERVER MODE · PostgreSQL</a:t>
            </a:r>
          </a:p>
        </p:txBody>
      </p:sp>
      <p:sp>
        <p:nvSpPr>
          <p:cNvPr id="10" name="two-heading-7-1">
            <a:extLst xmlns:a="http://schemas.openxmlformats.org/drawingml/2006/main">
              <a:ext uri="{FF2B5EF4-FFF2-40B4-BE49-F238E27FC236}">
                <a16:creationId xmlns:a16="http://schemas.microsoft.com/office/drawing/2014/main" id="{CB437DB1-137B-4511-8E5A-2A59153F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再把它升級成多人系統</a:t>
            </a:r>
          </a:p>
        </p:txBody>
      </p:sp>
      <p:sp>
        <p:nvSpPr>
          <p:cNvPr id="11" name="two-body-7-1">
            <a:extLst xmlns:a="http://schemas.openxmlformats.org/drawingml/2006/main">
              <a:ext uri="{FF2B5EF4-FFF2-40B4-BE49-F238E27FC236}">
                <a16:creationId xmlns:a16="http://schemas.microsoft.com/office/drawing/2014/main" id="{7DEA1124-823F-49AB-9310-ADFD8047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76625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Store 改打 /api/topology。</a:t>
            </a:r>
          </a:p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伺服器集中做 RBAC、資料一致性與稽核；PostgreSQL 成為共享資料源。</a:t>
            </a:r>
          </a:p>
        </p:txBody>
      </p:sp>
      <p:sp>
        <p:nvSpPr>
          <p:cNvPr id="12" name="two-bridge-7">
            <a:extLst xmlns:a="http://schemas.openxmlformats.org/drawingml/2006/main">
              <a:ext uri="{FF2B5EF4-FFF2-40B4-BE49-F238E27FC236}">
                <a16:creationId xmlns:a16="http://schemas.microsoft.com/office/drawing/2014/main" id="{208FAE35-6EA2-4BE1-9983-19848C97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19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NEXT_PUBLIC_TOPOLOGY_STORAGE 決定路徑</a:t>
            </a:r>
          </a:p>
        </p:txBody>
      </p:sp>
    </p:spTree>
    <p:extLst>
      <p:ext uri="{BB962C8B-B14F-4D97-AF65-F5344CB8AC3E}">
        <p14:creationId xmlns:p14="http://schemas.microsoft.com/office/powerpoint/2010/main" val="13581540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8">
            <a:extLst xmlns:a="http://schemas.openxmlformats.org/drawingml/2006/main">
              <a:ext uri="{FF2B5EF4-FFF2-40B4-BE49-F238E27FC236}">
                <a16:creationId xmlns:a16="http://schemas.microsoft.com/office/drawing/2014/main" id="{CDEB5738-4943-4B75-A330-0B50BB8A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進入後端後，先掌握四個保護資料的核心問題</a:t>
            </a:r>
          </a:p>
        </p:txBody>
      </p:sp>
      <p:sp>
        <p:nvSpPr>
          <p:cNvPr id="2" name="title-accent-8">
            <a:extLst xmlns:a="http://schemas.openxmlformats.org/drawingml/2006/main">
              <a:ext uri="{FF2B5EF4-FFF2-40B4-BE49-F238E27FC236}">
                <a16:creationId xmlns:a16="http://schemas.microsoft.com/office/drawing/2014/main" id="{4EFC5321-B6E5-4F08-B3AC-0E0B4622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8">
            <a:extLst xmlns:a="http://schemas.openxmlformats.org/drawingml/2006/main">
              <a:ext uri="{FF2B5EF4-FFF2-40B4-BE49-F238E27FC236}">
                <a16:creationId xmlns:a16="http://schemas.microsoft.com/office/drawing/2014/main" id="{319D6F8C-D621-49CB-AD6B-099D72E0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LEARNING MAP</a:t>
            </a:r>
          </a:p>
        </p:txBody>
      </p:sp>
      <p:sp>
        <p:nvSpPr>
          <p:cNvPr id="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58E32A2C-7B71-4808-93CB-FC3BD7FA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5" name="mapping-intro-title-8">
            <a:extLst xmlns:a="http://schemas.openxmlformats.org/drawingml/2006/main">
              <a:ext uri="{FF2B5EF4-FFF2-40B4-BE49-F238E27FC236}">
                <a16:creationId xmlns:a16="http://schemas.microsoft.com/office/drawing/2014/main" id="{4B9EADB6-50B4-45B0-91F5-9A1529C3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API 不只是搬資料</a:t>
            </a:r>
          </a:p>
        </p:txBody>
      </p:sp>
      <p:sp>
        <p:nvSpPr>
          <p:cNvPr id="6" name="mapping-intro-body-8">
            <a:extLst xmlns:a="http://schemas.openxmlformats.org/drawingml/2006/main">
              <a:ext uri="{FF2B5EF4-FFF2-40B4-BE49-F238E27FC236}">
                <a16:creationId xmlns:a16="http://schemas.microsoft.com/office/drawing/2014/main" id="{67070690-29D4-49DE-97AF-5A8660FB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每個請求都要回答：誰在操作？能不能操作？資料是否有效？敏感資訊要如何記錄與保護？</a:t>
            </a:r>
          </a:p>
        </p:txBody>
      </p:sp>
      <p:sp>
        <p:nvSpPr>
          <p:cNvPr id="7" name="mapping-key-8-0">
            <a:extLst xmlns:a="http://schemas.openxmlformats.org/drawingml/2006/main">
              <a:ext uri="{FF2B5EF4-FFF2-40B4-BE49-F238E27FC236}">
                <a16:creationId xmlns:a16="http://schemas.microsoft.com/office/drawing/2014/main" id="{92F49EF6-F0DA-45ED-B846-F95DFEA2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Identity</a:t>
            </a:r>
          </a:p>
        </p:txBody>
      </p:sp>
      <p:sp>
        <p:nvSpPr>
          <p:cNvPr id="8" name="mapping-line-8-0">
            <a:extLst xmlns:a="http://schemas.openxmlformats.org/drawingml/2006/main">
              <a:ext uri="{FF2B5EF4-FFF2-40B4-BE49-F238E27FC236}">
                <a16:creationId xmlns:a16="http://schemas.microsoft.com/office/drawing/2014/main" id="{F2F0A9C4-67EA-4689-8541-53F7BAC5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860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pping-value-8-0">
            <a:extLst xmlns:a="http://schemas.openxmlformats.org/drawingml/2006/main">
              <a:ext uri="{FF2B5EF4-FFF2-40B4-BE49-F238E27FC236}">
                <a16:creationId xmlns:a16="http://schemas.microsoft.com/office/drawing/2014/main" id="{F14FB4DE-B08D-4512-8092-E8567B45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38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登入／session／OIDC，確認使用者身份</a:t>
            </a:r>
          </a:p>
        </p:txBody>
      </p:sp>
      <p:sp>
        <p:nvSpPr>
          <p:cNvPr id="10" name="mapping-key-8-1">
            <a:extLst xmlns:a="http://schemas.openxmlformats.org/drawingml/2006/main">
              <a:ext uri="{FF2B5EF4-FFF2-40B4-BE49-F238E27FC236}">
                <a16:creationId xmlns:a16="http://schemas.microsoft.com/office/drawing/2014/main" id="{3BC1AA0E-C358-4EF0-8709-FE030851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146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RBAC</a:t>
            </a:r>
          </a:p>
        </p:txBody>
      </p:sp>
      <p:sp>
        <p:nvSpPr>
          <p:cNvPr id="11" name="mapping-line-8-1">
            <a:extLst xmlns:a="http://schemas.openxmlformats.org/drawingml/2006/main">
              <a:ext uri="{FF2B5EF4-FFF2-40B4-BE49-F238E27FC236}">
                <a16:creationId xmlns:a16="http://schemas.microsoft.com/office/drawing/2014/main" id="{154AFA1C-A79F-4DA4-8EA3-9C084706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623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pping-value-8-1">
            <a:extLst xmlns:a="http://schemas.openxmlformats.org/drawingml/2006/main">
              <a:ext uri="{FF2B5EF4-FFF2-40B4-BE49-F238E27FC236}">
                <a16:creationId xmlns:a16="http://schemas.microsoft.com/office/drawing/2014/main" id="{17474E8B-2FB7-4124-B75B-981461EA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146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boss、site manager、engineer、read-only</a:t>
            </a:r>
          </a:p>
        </p:txBody>
      </p:sp>
      <p:sp>
        <p:nvSpPr>
          <p:cNvPr id="13" name="mapping-key-8-2">
            <a:extLst xmlns:a="http://schemas.openxmlformats.org/drawingml/2006/main">
              <a:ext uri="{FF2B5EF4-FFF2-40B4-BE49-F238E27FC236}">
                <a16:creationId xmlns:a16="http://schemas.microsoft.com/office/drawing/2014/main" id="{DEC09223-ECC2-49EC-B460-15E95457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909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Validation</a:t>
            </a:r>
          </a:p>
        </p:txBody>
      </p:sp>
      <p:sp>
        <p:nvSpPr>
          <p:cNvPr id="14" name="mapping-line-8-2">
            <a:extLst xmlns:a="http://schemas.openxmlformats.org/drawingml/2006/main">
              <a:ext uri="{FF2B5EF4-FFF2-40B4-BE49-F238E27FC236}">
                <a16:creationId xmlns:a16="http://schemas.microsoft.com/office/drawing/2014/main" id="{F1089BCE-249E-40BF-B4C8-563B0C89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386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apping-value-8-2">
            <a:extLst xmlns:a="http://schemas.openxmlformats.org/drawingml/2006/main">
              <a:ext uri="{FF2B5EF4-FFF2-40B4-BE49-F238E27FC236}">
                <a16:creationId xmlns:a16="http://schemas.microsoft.com/office/drawing/2014/main" id="{A20DB986-15B6-46D7-8E49-A9BC0853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909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Zod schema＋設備／連線關聯檢查</a:t>
            </a:r>
          </a:p>
        </p:txBody>
      </p:sp>
      <p:sp>
        <p:nvSpPr>
          <p:cNvPr id="16" name="mapping-key-8-3">
            <a:extLst xmlns:a="http://schemas.openxmlformats.org/drawingml/2006/main">
              <a:ext uri="{FF2B5EF4-FFF2-40B4-BE49-F238E27FC236}">
                <a16:creationId xmlns:a16="http://schemas.microsoft.com/office/drawing/2014/main" id="{9030118B-548E-4351-AC5B-AB6DA99F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672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Secrets</a:t>
            </a:r>
          </a:p>
        </p:txBody>
      </p:sp>
      <p:sp>
        <p:nvSpPr>
          <p:cNvPr id="17" name="mapping-line-8-3">
            <a:extLst xmlns:a="http://schemas.openxmlformats.org/drawingml/2006/main">
              <a:ext uri="{FF2B5EF4-FFF2-40B4-BE49-F238E27FC236}">
                <a16:creationId xmlns:a16="http://schemas.microsoft.com/office/drawing/2014/main" id="{02ACE5F3-F143-4C09-8D45-9E2D2596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149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pping-value-8-3">
            <a:extLst xmlns:a="http://schemas.openxmlformats.org/drawingml/2006/main">
              <a:ext uri="{FF2B5EF4-FFF2-40B4-BE49-F238E27FC236}">
                <a16:creationId xmlns:a16="http://schemas.microsoft.com/office/drawing/2014/main" id="{BDA17432-BDC8-4453-A5F0-3B51F2C3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672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登入密碼 hash；設備密碼加密＋稽核</a:t>
            </a:r>
          </a:p>
        </p:txBody>
      </p:sp>
    </p:spTree>
    <p:extLst>
      <p:ext uri="{BB962C8B-B14F-4D97-AF65-F5344CB8AC3E}">
        <p14:creationId xmlns:p14="http://schemas.microsoft.com/office/powerpoint/2010/main" val="8489017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9">
            <a:extLst xmlns:a="http://schemas.openxmlformats.org/drawingml/2006/main">
              <a:ext uri="{FF2B5EF4-FFF2-40B4-BE49-F238E27FC236}">
                <a16:creationId xmlns:a16="http://schemas.microsoft.com/office/drawing/2014/main" id="{A3F76DF7-F114-4CE1-81E7-A41BDD89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把學習直接綁定下一輪開發，知識才會留下來</a:t>
            </a:r>
          </a:p>
        </p:txBody>
      </p:sp>
      <p:sp>
        <p:nvSpPr>
          <p:cNvPr id="2" name="title-accent-9">
            <a:extLst xmlns:a="http://schemas.openxmlformats.org/drawingml/2006/main">
              <a:ext uri="{FF2B5EF4-FFF2-40B4-BE49-F238E27FC236}">
                <a16:creationId xmlns:a16="http://schemas.microsoft.com/office/drawing/2014/main" id="{AE03E425-52F9-4EEA-B8A3-89126F9A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9">
            <a:extLst xmlns:a="http://schemas.openxmlformats.org/drawingml/2006/main">
              <a:ext uri="{FF2B5EF4-FFF2-40B4-BE49-F238E27FC236}">
                <a16:creationId xmlns:a16="http://schemas.microsoft.com/office/drawing/2014/main" id="{338D966C-A0E0-43A5-8793-E46450BB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LEARNING MAP</a:t>
            </a:r>
          </a:p>
        </p:txBody>
      </p:sp>
      <p:sp>
        <p:nvSpPr>
          <p:cNvPr id="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5A3AFDC9-4496-48B7-81B9-0270EFBF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5" name="milestone-card-9-0">
            <a:extLst xmlns:a="http://schemas.openxmlformats.org/drawingml/2006/main">
              <a:ext uri="{FF2B5EF4-FFF2-40B4-BE49-F238E27FC236}">
                <a16:creationId xmlns:a16="http://schemas.microsoft.com/office/drawing/2014/main" id="{9C001326-A3FD-4509-8708-9A298D27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3562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milestone-label-9-0">
            <a:extLst xmlns:a="http://schemas.openxmlformats.org/drawingml/2006/main">
              <a:ext uri="{FF2B5EF4-FFF2-40B4-BE49-F238E27FC236}">
                <a16:creationId xmlns:a16="http://schemas.microsoft.com/office/drawing/2014/main" id="{E621907D-40ED-487C-A4DD-5755D4DC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SPRINT 01</a:t>
            </a:r>
          </a:p>
        </p:txBody>
      </p:sp>
      <p:sp>
        <p:nvSpPr>
          <p:cNvPr id="7" name="milestone-heading-9-0">
            <a:extLst xmlns:a="http://schemas.openxmlformats.org/drawingml/2006/main">
              <a:ext uri="{FF2B5EF4-FFF2-40B4-BE49-F238E27FC236}">
                <a16:creationId xmlns:a16="http://schemas.microsoft.com/office/drawing/2014/main" id="{5FE99F25-FE92-4926-ABE3-4B5240CA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3028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資料可信</a:t>
            </a:r>
          </a:p>
        </p:txBody>
      </p:sp>
      <p:sp>
        <p:nvSpPr>
          <p:cNvPr id="8" name="milestone-body-9-0">
            <a:extLst xmlns:a="http://schemas.openxmlformats.org/drawingml/2006/main">
              <a:ext uri="{FF2B5EF4-FFF2-40B4-BE49-F238E27FC236}">
                <a16:creationId xmlns:a16="http://schemas.microsoft.com/office/drawing/2014/main" id="{445E08F2-4A9B-4107-A6AB-89DD2689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02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正式 migration runner</a:t>
            </a:r>
          </a:p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validateProject(project)</a:t>
            </a:r>
          </a:p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JSONB 與正規化表同步</a:t>
            </a:r>
          </a:p>
        </p:txBody>
      </p:sp>
      <p:sp>
        <p:nvSpPr>
          <p:cNvPr id="9" name="milestone-bottom-9-0">
            <a:extLst xmlns:a="http://schemas.openxmlformats.org/drawingml/2006/main">
              <a:ext uri="{FF2B5EF4-FFF2-40B4-BE49-F238E27FC236}">
                <a16:creationId xmlns:a16="http://schemas.microsoft.com/office/drawing/2014/main" id="{E9DE66C1-8ADF-4B84-A27F-7E0720BA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輸出：可驗證的儲存流程</a:t>
            </a:r>
          </a:p>
        </p:txBody>
      </p:sp>
      <p:sp>
        <p:nvSpPr>
          <p:cNvPr id="10" name="milestone-card-9-1">
            <a:extLst xmlns:a="http://schemas.openxmlformats.org/drawingml/2006/main">
              <a:ext uri="{FF2B5EF4-FFF2-40B4-BE49-F238E27FC236}">
                <a16:creationId xmlns:a16="http://schemas.microsoft.com/office/drawing/2014/main" id="{995CB121-650C-40DB-9E4B-D10871E5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66875"/>
            <a:ext cx="3562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milestone-label-9-1">
            <a:extLst xmlns:a="http://schemas.openxmlformats.org/drawingml/2006/main">
              <a:ext uri="{FF2B5EF4-FFF2-40B4-BE49-F238E27FC236}">
                <a16:creationId xmlns:a16="http://schemas.microsoft.com/office/drawing/2014/main" id="{F012734C-2DCC-4C12-80BF-F3699E21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95262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SPRINT 02</a:t>
            </a:r>
          </a:p>
        </p:txBody>
      </p:sp>
      <p:sp>
        <p:nvSpPr>
          <p:cNvPr id="12" name="milestone-heading-9-1">
            <a:extLst xmlns:a="http://schemas.openxmlformats.org/drawingml/2006/main">
              <a:ext uri="{FF2B5EF4-FFF2-40B4-BE49-F238E27FC236}">
                <a16:creationId xmlns:a16="http://schemas.microsoft.com/office/drawing/2014/main" id="{1C47409F-CF29-432C-B8A4-F5692DDB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24125"/>
            <a:ext cx="3028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權限可信</a:t>
            </a:r>
          </a:p>
        </p:txBody>
      </p:sp>
      <p:sp>
        <p:nvSpPr>
          <p:cNvPr id="13" name="milestone-body-9-1">
            <a:extLst xmlns:a="http://schemas.openxmlformats.org/drawingml/2006/main">
              <a:ext uri="{FF2B5EF4-FFF2-40B4-BE49-F238E27FC236}">
                <a16:creationId xmlns:a16="http://schemas.microsoft.com/office/drawing/2014/main" id="{DD9C9859-97A1-4FD8-9DAD-D9EB1FB0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29000"/>
            <a:ext cx="302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credentials 加密結構</a:t>
            </a:r>
          </a:p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audit_logs 寫入點</a:t>
            </a:r>
          </a:p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RBAC 邊界測試</a:t>
            </a:r>
          </a:p>
        </p:txBody>
      </p:sp>
      <p:sp>
        <p:nvSpPr>
          <p:cNvPr id="14" name="milestone-bottom-9-1">
            <a:extLst xmlns:a="http://schemas.openxmlformats.org/drawingml/2006/main">
              <a:ext uri="{FF2B5EF4-FFF2-40B4-BE49-F238E27FC236}">
                <a16:creationId xmlns:a16="http://schemas.microsoft.com/office/drawing/2014/main" id="{F4289A50-6E52-4AC6-8C78-D8BAE884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3816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輸出：可追蹤的敏感操作</a:t>
            </a:r>
          </a:p>
        </p:txBody>
      </p:sp>
      <p:sp>
        <p:nvSpPr>
          <p:cNvPr id="15" name="milestone-card-9-2">
            <a:extLst xmlns:a="http://schemas.openxmlformats.org/drawingml/2006/main">
              <a:ext uri="{FF2B5EF4-FFF2-40B4-BE49-F238E27FC236}">
                <a16:creationId xmlns:a16="http://schemas.microsoft.com/office/drawing/2014/main" id="{D658D1BB-B8CF-483E-95AB-1924F444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6875"/>
            <a:ext cx="3562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milestone-label-9-2">
            <a:extLst xmlns:a="http://schemas.openxmlformats.org/drawingml/2006/main">
              <a:ext uri="{FF2B5EF4-FFF2-40B4-BE49-F238E27FC236}">
                <a16:creationId xmlns:a16="http://schemas.microsoft.com/office/drawing/2014/main" id="{1DD6D608-5FAE-4878-84C9-36D4B95F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5262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SPRINT 03</a:t>
            </a:r>
          </a:p>
        </p:txBody>
      </p:sp>
      <p:sp>
        <p:nvSpPr>
          <p:cNvPr id="17" name="milestone-heading-9-2">
            <a:extLst xmlns:a="http://schemas.openxmlformats.org/drawingml/2006/main">
              <a:ext uri="{FF2B5EF4-FFF2-40B4-BE49-F238E27FC236}">
                <a16:creationId xmlns:a16="http://schemas.microsoft.com/office/drawing/2014/main" id="{7C468DFC-2BBE-4DAD-89C8-0428BB3E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24125"/>
            <a:ext cx="3028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部署可信</a:t>
            </a:r>
          </a:p>
        </p:txBody>
      </p:sp>
      <p:sp>
        <p:nvSpPr>
          <p:cNvPr id="18" name="milestone-body-9-2">
            <a:extLst xmlns:a="http://schemas.openxmlformats.org/drawingml/2006/main">
              <a:ext uri="{FF2B5EF4-FFF2-40B4-BE49-F238E27FC236}">
                <a16:creationId xmlns:a16="http://schemas.microsoft.com/office/drawing/2014/main" id="{97F6D543-ED66-4EE8-BA2A-1F7EBD07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302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本機 PostgreSQL 跑通</a:t>
            </a:r>
          </a:p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正式 server 文件</a:t>
            </a:r>
          </a:p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備份、還原、OIDC</a:t>
            </a:r>
          </a:p>
        </p:txBody>
      </p:sp>
      <p:sp>
        <p:nvSpPr>
          <p:cNvPr id="19" name="milestone-bottom-9-2">
            <a:extLst xmlns:a="http://schemas.openxmlformats.org/drawingml/2006/main">
              <a:ext uri="{FF2B5EF4-FFF2-40B4-BE49-F238E27FC236}">
                <a16:creationId xmlns:a16="http://schemas.microsoft.com/office/drawing/2014/main" id="{1F04CF85-5036-485B-A289-CC5E383A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816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輸出：可維運的內網服務</a:t>
            </a:r>
          </a:p>
        </p:txBody>
      </p:sp>
    </p:spTree>
    <p:extLst>
      <p:ext uri="{BB962C8B-B14F-4D97-AF65-F5344CB8AC3E}">
        <p14:creationId xmlns:p14="http://schemas.microsoft.com/office/powerpoint/2010/main" val="1407586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10">
            <a:extLst xmlns:a="http://schemas.openxmlformats.org/drawingml/2006/main">
              <a:ext uri="{FF2B5EF4-FFF2-40B4-BE49-F238E27FC236}">
                <a16:creationId xmlns:a16="http://schemas.microsoft.com/office/drawing/2014/main" id="{2DA2E635-EAC4-4D00-98A6-4E5AA25D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建議用檔案作為教材，每學一層就做一個小練習</a:t>
            </a:r>
          </a:p>
        </p:txBody>
      </p:sp>
      <p:sp>
        <p:nvSpPr>
          <p:cNvPr id="2" name="title-accent-10">
            <a:extLst xmlns:a="http://schemas.openxmlformats.org/drawingml/2006/main">
              <a:ext uri="{FF2B5EF4-FFF2-40B4-BE49-F238E27FC236}">
                <a16:creationId xmlns:a16="http://schemas.microsoft.com/office/drawing/2014/main" id="{D6459C07-578B-46B6-8FE2-8BAB2329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10">
            <a:extLst xmlns:a="http://schemas.openxmlformats.org/drawingml/2006/main">
              <a:ext uri="{FF2B5EF4-FFF2-40B4-BE49-F238E27FC236}">
                <a16:creationId xmlns:a16="http://schemas.microsoft.com/office/drawing/2014/main" id="{D0A3859D-EA0F-475A-BA25-AC86F3DC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LEARNING MAP</a:t>
            </a:r>
          </a:p>
        </p:txBody>
      </p:sp>
      <p:sp>
        <p:nvSpPr>
          <p:cNvPr id="4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DC7D72B8-972E-4D19-94B4-E2FDCF71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5" name="check-intro-heading-10">
            <a:extLst xmlns:a="http://schemas.openxmlformats.org/drawingml/2006/main">
              <a:ext uri="{FF2B5EF4-FFF2-40B4-BE49-F238E27FC236}">
                <a16:creationId xmlns:a16="http://schemas.microsoft.com/office/drawing/2014/main" id="{D32F54C0-D027-4A9A-8163-1E07F547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閱讀順序＝系統依賴順序</a:t>
            </a:r>
          </a:p>
        </p:txBody>
      </p:sp>
      <p:sp>
        <p:nvSpPr>
          <p:cNvPr id="6" name="check-intro-body-10">
            <a:extLst xmlns:a="http://schemas.openxmlformats.org/drawingml/2006/main">
              <a:ext uri="{FF2B5EF4-FFF2-40B4-BE49-F238E27FC236}">
                <a16:creationId xmlns:a16="http://schemas.microsoft.com/office/drawing/2014/main" id="{620813F2-D2FD-43D4-B4D8-3E0903E4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先理解資料，再追狀態與畫面；接著看匯入驗證與 API，最後才讀 PostgreSQL schema 與部署。</a:t>
            </a:r>
          </a:p>
        </p:txBody>
      </p:sp>
      <p:sp>
        <p:nvSpPr>
          <p:cNvPr id="7" name="check-circle-10-0">
            <a:extLst xmlns:a="http://schemas.openxmlformats.org/drawingml/2006/main">
              <a:ext uri="{FF2B5EF4-FFF2-40B4-BE49-F238E27FC236}">
                <a16:creationId xmlns:a16="http://schemas.microsoft.com/office/drawing/2014/main" id="{DD5B45F5-593E-4748-B4AF-0212B6F5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eck-glyph-10-0">
            <a:extLst xmlns:a="http://schemas.openxmlformats.org/drawingml/2006/main">
              <a:ext uri="{FF2B5EF4-FFF2-40B4-BE49-F238E27FC236}">
                <a16:creationId xmlns:a16="http://schemas.microsoft.com/office/drawing/2014/main" id="{B2A00B62-9143-465F-B8F2-A0F75F44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716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9" name="check-item-10-0">
            <a:extLst xmlns:a="http://schemas.openxmlformats.org/drawingml/2006/main">
              <a:ext uri="{FF2B5EF4-FFF2-40B4-BE49-F238E27FC236}">
                <a16:creationId xmlns:a16="http://schemas.microsoft.com/office/drawing/2014/main" id="{8FDD34C6-C133-48C2-B5E7-15708B16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52625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topology-types.ts：畫出 Project 關係</a:t>
            </a:r>
          </a:p>
        </p:txBody>
      </p:sp>
      <p:sp>
        <p:nvSpPr>
          <p:cNvPr id="10" name="check-circle-10-1">
            <a:extLst xmlns:a="http://schemas.openxmlformats.org/drawingml/2006/main">
              <a:ext uri="{FF2B5EF4-FFF2-40B4-BE49-F238E27FC236}">
                <a16:creationId xmlns:a16="http://schemas.microsoft.com/office/drawing/2014/main" id="{0C44AE71-E2F2-439C-81F7-49262424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eck-glyph-10-1">
            <a:extLst xmlns:a="http://schemas.openxmlformats.org/drawingml/2006/main">
              <a:ext uri="{FF2B5EF4-FFF2-40B4-BE49-F238E27FC236}">
                <a16:creationId xmlns:a16="http://schemas.microsoft.com/office/drawing/2014/main" id="{0B389965-0EF9-4F5D-A8FB-AA358F8F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2" name="check-item-10-1">
            <a:extLst xmlns:a="http://schemas.openxmlformats.org/drawingml/2006/main">
              <a:ext uri="{FF2B5EF4-FFF2-40B4-BE49-F238E27FC236}">
                <a16:creationId xmlns:a16="http://schemas.microsoft.com/office/drawing/2014/main" id="{E4D15715-09AD-4709-9114-6097B12E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95575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topology-store.ts：追一次 setProject</a:t>
            </a:r>
          </a:p>
        </p:txBody>
      </p:sp>
      <p:sp>
        <p:nvSpPr>
          <p:cNvPr id="13" name="check-circle-10-2">
            <a:extLst xmlns:a="http://schemas.openxmlformats.org/drawingml/2006/main">
              <a:ext uri="{FF2B5EF4-FFF2-40B4-BE49-F238E27FC236}">
                <a16:creationId xmlns:a16="http://schemas.microsoft.com/office/drawing/2014/main" id="{233ED917-E164-49FC-B522-94FAAC70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-glyph-10-2">
            <a:extLst xmlns:a="http://schemas.openxmlformats.org/drawingml/2006/main">
              <a:ext uri="{FF2B5EF4-FFF2-40B4-BE49-F238E27FC236}">
                <a16:creationId xmlns:a16="http://schemas.microsoft.com/office/drawing/2014/main" id="{D41A4E7F-7428-41C7-9913-AB509F92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575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5" name="check-item-10-2">
            <a:extLst xmlns:a="http://schemas.openxmlformats.org/drawingml/2006/main">
              <a:ext uri="{FF2B5EF4-FFF2-40B4-BE49-F238E27FC236}">
                <a16:creationId xmlns:a16="http://schemas.microsoft.com/office/drawing/2014/main" id="{AAF77593-49FE-416C-AD02-DF42191B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38525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page.tsx：追一次新增連線</a:t>
            </a:r>
          </a:p>
        </p:txBody>
      </p:sp>
      <p:sp>
        <p:nvSpPr>
          <p:cNvPr id="16" name="check-circle-10-3">
            <a:extLst xmlns:a="http://schemas.openxmlformats.org/drawingml/2006/main">
              <a:ext uri="{FF2B5EF4-FFF2-40B4-BE49-F238E27FC236}">
                <a16:creationId xmlns:a16="http://schemas.microsoft.com/office/drawing/2014/main" id="{1FC670E4-0484-4584-BB08-F3CE9DB2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heck-glyph-10-3">
            <a:extLst xmlns:a="http://schemas.openxmlformats.org/drawingml/2006/main">
              <a:ext uri="{FF2B5EF4-FFF2-40B4-BE49-F238E27FC236}">
                <a16:creationId xmlns:a16="http://schemas.microsoft.com/office/drawing/2014/main" id="{13AD8F06-FCC8-412F-A720-0B6E04E6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005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check-item-10-3">
            <a:extLst xmlns:a="http://schemas.openxmlformats.org/drawingml/2006/main">
              <a:ext uri="{FF2B5EF4-FFF2-40B4-BE49-F238E27FC236}">
                <a16:creationId xmlns:a16="http://schemas.microsoft.com/office/drawing/2014/main" id="{A074DB13-F0E0-4531-BF47-54CD1379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81475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topology-transfer.ts：故意匯入壞資料</a:t>
            </a:r>
          </a:p>
        </p:txBody>
      </p:sp>
      <p:sp>
        <p:nvSpPr>
          <p:cNvPr id="19" name="check-circle-10-4">
            <a:extLst xmlns:a="http://schemas.openxmlformats.org/drawingml/2006/main">
              <a:ext uri="{FF2B5EF4-FFF2-40B4-BE49-F238E27FC236}">
                <a16:creationId xmlns:a16="http://schemas.microsoft.com/office/drawing/2014/main" id="{22B46C7F-3DCB-4BC7-9C0F-FA6C062F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-glyph-10-4">
            <a:extLst xmlns:a="http://schemas.openxmlformats.org/drawingml/2006/main">
              <a:ext uri="{FF2B5EF4-FFF2-40B4-BE49-F238E27FC236}">
                <a16:creationId xmlns:a16="http://schemas.microsoft.com/office/drawing/2014/main" id="{273503D2-1D56-4A2F-82B5-3D92CDC0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434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check-item-10-4">
            <a:extLst xmlns:a="http://schemas.openxmlformats.org/drawingml/2006/main">
              <a:ext uri="{FF2B5EF4-FFF2-40B4-BE49-F238E27FC236}">
                <a16:creationId xmlns:a16="http://schemas.microsoft.com/office/drawing/2014/main" id="{8FA5638B-3742-4494-BBBF-1E77F2D3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24425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7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route.ts → topology-postgres.ts：追一次儲存</a:t>
            </a:r>
          </a:p>
        </p:txBody>
      </p:sp>
    </p:spTree>
    <p:extLst>
      <p:ext uri="{BB962C8B-B14F-4D97-AF65-F5344CB8AC3E}">
        <p14:creationId xmlns:p14="http://schemas.microsoft.com/office/powerpoint/2010/main" val="9268942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earning-close-eyebrow">
            <a:extLst xmlns:a="http://schemas.openxmlformats.org/drawingml/2006/main">
              <a:ext uri="{FF2B5EF4-FFF2-40B4-BE49-F238E27FC236}">
                <a16:creationId xmlns:a16="http://schemas.microsoft.com/office/drawing/2014/main" id="{1A794DCF-60BD-438B-AE85-02962DCE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THE THREE QUESTIONS TO KEEP</a:t>
            </a:r>
          </a:p>
        </p:txBody>
      </p:sp>
      <p:sp>
        <p:nvSpPr>
          <p:cNvPr id="2" name="learning-close-accent">
            <a:extLst xmlns:a="http://schemas.openxmlformats.org/drawingml/2006/main">
              <a:ext uri="{FF2B5EF4-FFF2-40B4-BE49-F238E27FC236}">
                <a16:creationId xmlns:a16="http://schemas.microsoft.com/office/drawing/2014/main" id="{27AF3A30-5A5E-4FBC-81D6-BBF19D70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238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earning-close-title">
            <a:extLst xmlns:a="http://schemas.openxmlformats.org/drawingml/2006/main">
              <a:ext uri="{FF2B5EF4-FFF2-40B4-BE49-F238E27FC236}">
                <a16:creationId xmlns:a16="http://schemas.microsoft.com/office/drawing/2014/main" id="{6F150322-6B81-4CD8-A421-45446BAD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000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資料怎麼流？</a:t>
            </a:r>
          </a:p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畫面怎麼生成？</a:t>
            </a:r>
          </a:p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權限怎麼保護？</a:t>
            </a:r>
          </a:p>
        </p:txBody>
      </p:sp>
      <p:sp>
        <p:nvSpPr>
          <p:cNvPr id="4" name="learning-close-subtitle">
            <a:extLst xmlns:a="http://schemas.openxmlformats.org/drawingml/2006/main">
              <a:ext uri="{FF2B5EF4-FFF2-40B4-BE49-F238E27FC236}">
                <a16:creationId xmlns:a16="http://schemas.microsoft.com/office/drawing/2014/main" id="{70C391D9-7636-4482-A487-1F1406F7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只要三個問題都能回答，NetTopo Studio 的功能就不會越做越亂。</a:t>
            </a:r>
          </a:p>
        </p:txBody>
      </p:sp>
    </p:spTree>
    <p:extLst>
      <p:ext uri="{BB962C8B-B14F-4D97-AF65-F5344CB8AC3E}">
        <p14:creationId xmlns:p14="http://schemas.microsoft.com/office/powerpoint/2010/main" val="1126918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2026-08-02T12:50:52.6420000Z</dcterms:created>
  <dcterms:modified xsi:type="dcterms:W3CDTF">2026-08-02T12:50:52.6420000Z</dcterms:modified>
</coreProperties>
</file>